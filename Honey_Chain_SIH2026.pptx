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VYAJOSHI1/HONEY-CHAIN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blockchain/solutions/food-trust" TargetMode="External"/><Relationship Id="rId4" Type="http://schemas.openxmlformats.org/officeDocument/2006/relationships/hyperlink" Target="https://www.arnia.co.uk" TargetMode="External"/><Relationship Id="rId5" Type="http://schemas.openxmlformats.org/officeDocument/2006/relationships/hyperlink" Target="https://broodminder.com" TargetMode="External"/><Relationship Id="rId6" Type="http://schemas.openxmlformats.org/officeDocument/2006/relationships/hyperlink" Target="https://www.beewise.ag" TargetMode="External"/><Relationship Id="rId7" Type="http://schemas.openxmlformats.org/officeDocument/2006/relationships/hyperlink" Target="https://ieeexplore.ieee.org/document/4781136" TargetMode="External"/><Relationship Id="rId8" Type="http://schemas.openxmlformats.org/officeDocument/2006/relationships/hyperlink" Target="https://doi.org/10.3390/s21082764" TargetMode="External"/><Relationship Id="rId9" Type="http://schemas.openxmlformats.org/officeDocument/2006/relationships/hyperlink" Target="https://arxiv.org/abs/1506.02640" TargetMode="External"/><Relationship Id="rId10" Type="http://schemas.openxmlformats.org/officeDocument/2006/relationships/hyperlink" Target="https://doi.org/10.1109/ICSSSM.2016.7538424" TargetMode="External"/><Relationship Id="rId11" Type="http://schemas.openxmlformats.org/officeDocument/2006/relationships/hyperlink" Target="https://doi.org/10.1016/j.biosystemseng.2014.12.001" TargetMode="External"/><Relationship Id="rId12" Type="http://schemas.openxmlformats.org/officeDocument/2006/relationships/hyperlink" Target="https://eips.ethereum.org/EIPS/eip-721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novo-Desktop-HONEY-CHAIN/860fd3a9-ab1a-4242-a904-1949ce643db1/scratchpad/ppt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9320" y="30480"/>
            <a:ext cx="2247900" cy="10591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13360"/>
            <a:ext cx="887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 rot="5400000">
            <a:off x="6385560" y="853440"/>
            <a:ext cx="1615440" cy="1905000"/>
          </a:xfrm>
          <a:prstGeom prst="hexagon">
            <a:avLst/>
          </a:prstGeom>
          <a:solidFill>
            <a:srgbClr val="FFFFFF"/>
          </a:solidFill>
          <a:ln w="63500">
            <a:solidFill>
              <a:srgbClr val="ECECE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5400000">
            <a:off x="6057900" y="1790700"/>
            <a:ext cx="4572000" cy="3886200"/>
          </a:xfrm>
          <a:prstGeom prst="hexagon">
            <a:avLst/>
          </a:prstGeom>
          <a:solidFill>
            <a:srgbClr val="ECECEC"/>
          </a:solidFill>
          <a:ln/>
        </p:spPr>
      </p:sp>
      <p:sp>
        <p:nvSpPr>
          <p:cNvPr id="6" name="Shape 3"/>
          <p:cNvSpPr/>
          <p:nvPr/>
        </p:nvSpPr>
        <p:spPr>
          <a:xfrm rot="5400000">
            <a:off x="5600700" y="4076700"/>
            <a:ext cx="1104900" cy="914400"/>
          </a:xfrm>
          <a:prstGeom prst="hexagon">
            <a:avLst/>
          </a:prstGeom>
          <a:solidFill>
            <a:srgbClr val="ECECEC"/>
          </a:solidFill>
          <a:ln/>
        </p:spPr>
      </p:sp>
      <p:pic>
        <p:nvPicPr>
          <p:cNvPr id="7" name="Image 1" descr="/tmp/claude-1000/-home-lenovo-Desktop-HONEY-CHAIN/860fd3a9-ab1a-4242-a904-1949ce643db1/scratchpad/ppt/sih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1714500"/>
            <a:ext cx="2933700" cy="3352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48000" y="883920"/>
            <a:ext cx="495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HONEY CHAIN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723900" y="1524000"/>
            <a:ext cx="525780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342900" indent="-342900">
              <a:lnSpc>
                <a:spcPct val="15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26021</a:t>
            </a:r>
            <a:endParaRPr lang="en-US" sz="2000" dirty="0"/>
          </a:p>
          <a:p>
            <a:pPr algn="just" marL="342900" indent="-342900">
              <a:lnSpc>
                <a:spcPct val="15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Chain: A block chain-based system for honey traceability and smart beekeeping management</a:t>
            </a:r>
            <a:endParaRPr lang="en-US" sz="2000" dirty="0"/>
          </a:p>
          <a:p>
            <a:pPr algn="just" marL="342900" indent="-342900">
              <a:lnSpc>
                <a:spcPct val="15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FoodTech &amp; Rural Development</a:t>
            </a:r>
            <a:endParaRPr lang="en-US" sz="2000" dirty="0"/>
          </a:p>
          <a:p>
            <a:pPr algn="just" marL="342900" indent="-342900">
              <a:lnSpc>
                <a:spcPct val="15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000" dirty="0"/>
          </a:p>
          <a:p>
            <a:pPr algn="just" marL="342900" indent="-342900">
              <a:lnSpc>
                <a:spcPct val="15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</a:t>
            </a:r>
            <a:endParaRPr lang="en-US" sz="2000" dirty="0"/>
          </a:p>
          <a:p>
            <a:pPr algn="just" marL="342900" indent="-342900">
              <a:lnSpc>
                <a:spcPct val="155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</a:t>
            </a: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Brainy Brews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novo-Desktop-HONEY-CHAIN/860fd3a9-ab1a-4242-a904-1949ce643db1/scratchpad/ppt/te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15240"/>
            <a:ext cx="952500" cy="952500"/>
          </a:xfrm>
          <a:prstGeom prst="rect">
            <a:avLst/>
          </a:prstGeom>
        </p:spPr>
      </p:pic>
      <p:pic>
        <p:nvPicPr>
          <p:cNvPr id="3" name="Image 1" descr="/tmp/claude-1000/-home-lenovo-Desktop-HONEY-CHAIN/860fd3a9-ab1a-4242-a904-1949ce643db1/scratchpad/ppt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20" y="30480"/>
            <a:ext cx="2247900" cy="10591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33500" y="228600"/>
            <a:ext cx="830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Chain : A blockchain, AI &amp; IoT based honey traceability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smart beekeeping management platform.</a:t>
            </a:r>
            <a:endParaRPr lang="en-US" sz="2100" dirty="0"/>
          </a:p>
        </p:txBody>
      </p:sp>
      <p:sp>
        <p:nvSpPr>
          <p:cNvPr id="5" name="Shape 1"/>
          <p:cNvSpPr/>
          <p:nvPr/>
        </p:nvSpPr>
        <p:spPr>
          <a:xfrm>
            <a:off x="304800" y="1112520"/>
            <a:ext cx="3162300" cy="411480"/>
          </a:xfrm>
          <a:prstGeom prst="roundRect">
            <a:avLst>
              <a:gd name="adj" fmla="val 62222"/>
            </a:avLst>
          </a:prstGeom>
          <a:solidFill>
            <a:srgbClr val="FFCAE8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472440" y="1112520"/>
            <a:ext cx="2933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289560" y="1554480"/>
            <a:ext cx="3253740" cy="3368040"/>
          </a:xfrm>
          <a:prstGeom prst="roundRect">
            <a:avLst>
              <a:gd name="adj" fmla="val 3372"/>
            </a:avLst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81000" y="1615440"/>
            <a:ext cx="3086100" cy="326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Smart Hive Monitoring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nodes stream hive temperature, humidity &amp; weight to live dashboards.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Bef>
                <a:spcPts val="700"/>
              </a:spcBef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Colony Health &amp; Disease Alerts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health score, IsolationForest anomalies &amp; YOLO Varroa detection.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Bef>
                <a:spcPts val="700"/>
              </a:spcBef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&amp; Harvest Prediction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trends forecast harvestable honey and the best harvest window.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Bef>
                <a:spcPts val="700"/>
              </a:spcBef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Batch Provenance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harvest minted as an ERC-721 token with SHA-256 hash &amp; IPFS metadata.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Bef>
                <a:spcPts val="700"/>
              </a:spcBef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Consumer Verification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 QR opens a public passport: origin, colony health, journey &amp; tamper check.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89560" y="5059680"/>
            <a:ext cx="3413760" cy="350520"/>
          </a:xfrm>
          <a:prstGeom prst="roundRect">
            <a:avLst>
              <a:gd name="adj" fmla="val 73043"/>
            </a:avLst>
          </a:prstGeom>
          <a:solidFill>
            <a:srgbClr val="5CE1E6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57200" y="5059680"/>
            <a:ext cx="31851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Link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04800" y="5455920"/>
            <a:ext cx="3291840" cy="79248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2440" y="551688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link</a:t>
            </a:r>
            <a:endParaRPr lang="en-US" sz="16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60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</a:t>
            </a:r>
            <a:endParaRPr lang="en-US" sz="16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733800" y="1112520"/>
            <a:ext cx="8001000" cy="411480"/>
          </a:xfrm>
          <a:prstGeom prst="roundRect">
            <a:avLst>
              <a:gd name="adj" fmla="val 62222"/>
            </a:avLst>
          </a:prstGeom>
          <a:solidFill>
            <a:srgbClr val="E2A9F1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901440" y="1112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787140" y="1630680"/>
            <a:ext cx="181356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/tmp/claude-1000/-home-lenovo-Desktop-HONEY-CHAIN/860fd3a9-ab1a-4242-a904-1949ce643db1/scratchpad/ppt/icons/s2_counterfe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520" y="1706880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48100" y="2072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hashes expose counterfeit or altered batches.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44540" y="1630680"/>
            <a:ext cx="181356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/tmp/claude-1000/-home-lenovo-Desktop-HONEY-CHAIN/860fd3a9-ab1a-4242-a904-1949ce643db1/scratchpad/ppt/icons/s2_tru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1706880"/>
            <a:ext cx="304800" cy="3048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905500" y="2072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passport rebuilds consumer trust in rural honey.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901940" y="1630680"/>
            <a:ext cx="181356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/tmp/claude-1000/-home-lenovo-Desktop-HONEY-CHAIN/860fd3a9-ab1a-4242-a904-1949ce643db1/scratchpad/ppt/icons/s2_colon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320" y="1706880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962900" y="2072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alerts cut colony losses from heat, swarming &amp; mites.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9959340" y="1630680"/>
            <a:ext cx="181356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/tmp/claude-1000/-home-lenovo-Desktop-HONEY-CHAIN/860fd3a9-ab1a-4242-a904-1949ce643db1/scratchpad/ppt/icons/s2_mar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3720" y="1706880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20300" y="2072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provenance opens premium market linkages.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3787140" y="2827020"/>
            <a:ext cx="7947660" cy="411480"/>
          </a:xfrm>
          <a:prstGeom prst="roundRect">
            <a:avLst>
              <a:gd name="adj" fmla="val 62222"/>
            </a:avLst>
          </a:prstGeom>
          <a:solidFill>
            <a:srgbClr val="F7DDAF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3954780" y="2827020"/>
            <a:ext cx="771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Innovations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3787140" y="3299460"/>
            <a:ext cx="181356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30" name="Image 6" descr="/tmp/claude-1000/-home-lenovo-Desktop-HONEY-CHAIN/860fd3a9-ab1a-4242-a904-1949ce643db1/scratchpad/ppt/icons/s2_sco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375660"/>
            <a:ext cx="335280" cy="33528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832860" y="3749040"/>
            <a:ext cx="17221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Hive Health Score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3863340" y="4114800"/>
            <a:ext cx="1661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5-factor weighted score; one severe factor escalates status, with plain-language reasons.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5798820" y="3299460"/>
            <a:ext cx="181356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34" name="Image 7" descr="/tmp/claude-1000/-home-lenovo-Desktop-HONEY-CHAIN/860fd3a9-ab1a-4242-a904-1949ce643db1/scratchpad/ppt/icons/s2_passpo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375660"/>
            <a:ext cx="335280" cy="33528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844540" y="3749040"/>
            <a:ext cx="17221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Hive-to-Jar Digital Passport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5875020" y="4114800"/>
            <a:ext cx="1661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built from real IoT, AI and ledger records, with a printable certificate.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7810500" y="3299460"/>
            <a:ext cx="181356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38" name="Image 8" descr="/tmp/claude-1000/-home-lenovo-Desktop-HONEY-CHAIN/860fd3a9-ab1a-4242-a904-1949ce643db1/scratchpad/ppt/icons/s2_tamp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9640" y="3375660"/>
            <a:ext cx="335280" cy="33528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856220" y="3749040"/>
            <a:ext cx="17221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Provenance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7886700" y="4114800"/>
            <a:ext cx="1661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hash anchored at mint; any later database edit is caught at scan time.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9822180" y="3299460"/>
            <a:ext cx="181356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sx="100000" sy="100000" kx="0" ky="0" algn="bl" rotWithShape="0" blurRad="25400" dist="38100" dir="2700000">
              <a:srgbClr val="000000">
                <a:alpha val="30000"/>
              </a:srgbClr>
            </a:outerShdw>
          </a:effectLst>
        </p:spPr>
      </p:sp>
      <p:pic>
        <p:nvPicPr>
          <p:cNvPr id="42" name="Image 9" descr="/tmp/claude-1000/-home-lenovo-Desktop-HONEY-CHAIN/860fd3a9-ab1a-4242-a904-1949ce643db1/scratchpad/ppt/icons/s2_kvi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1320" y="3375660"/>
            <a:ext cx="335280" cy="33528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9867900" y="3749040"/>
            <a:ext cx="17221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KVIC Command Center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9898380" y="4114800"/>
            <a:ext cx="1661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apiary map, disease surveillance, one-click batch recall and audit trail.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3787140" y="4960620"/>
            <a:ext cx="7810500" cy="411480"/>
          </a:xfrm>
          <a:prstGeom prst="roundRect">
            <a:avLst>
              <a:gd name="adj" fmla="val 62222"/>
            </a:avLst>
          </a:prstGeom>
          <a:solidFill>
            <a:srgbClr val="B6C0FF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46" name="Text 34"/>
          <p:cNvSpPr txBox="1"/>
          <p:nvPr/>
        </p:nvSpPr>
        <p:spPr>
          <a:xfrm>
            <a:off x="3954780" y="4960620"/>
            <a:ext cx="7581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Procedure — Hive-to-Jar Traceability Validation</a:t>
            </a:r>
            <a:endParaRPr lang="en-US" sz="1900" dirty="0"/>
          </a:p>
        </p:txBody>
      </p:sp>
      <p:sp>
        <p:nvSpPr>
          <p:cNvPr id="47" name="Shape 35"/>
          <p:cNvSpPr/>
          <p:nvPr/>
        </p:nvSpPr>
        <p:spPr>
          <a:xfrm>
            <a:off x="3870960" y="5516880"/>
            <a:ext cx="1318260" cy="464820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3901440" y="5516880"/>
            <a:ext cx="1257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TELEMETRY</a:t>
            </a:r>
            <a:endParaRPr lang="en-US" sz="1150" dirty="0"/>
          </a:p>
        </p:txBody>
      </p:sp>
      <p:sp>
        <p:nvSpPr>
          <p:cNvPr id="49" name="Text 37"/>
          <p:cNvSpPr txBox="1"/>
          <p:nvPr/>
        </p:nvSpPr>
        <p:spPr>
          <a:xfrm>
            <a:off x="3779520" y="6019800"/>
            <a:ext cx="1501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node streams temp, humidity &amp; weight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 rot="5400000">
            <a:off x="5227320" y="5623560"/>
            <a:ext cx="228600" cy="19812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5478780" y="5516880"/>
            <a:ext cx="1318260" cy="464820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5509260" y="5516880"/>
            <a:ext cx="1257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ALERT</a:t>
            </a:r>
            <a:endParaRPr lang="en-US" sz="1150" dirty="0"/>
          </a:p>
        </p:txBody>
      </p:sp>
      <p:sp>
        <p:nvSpPr>
          <p:cNvPr id="53" name="Text 41"/>
          <p:cNvSpPr txBox="1"/>
          <p:nvPr/>
        </p:nvSpPr>
        <p:spPr>
          <a:xfrm>
            <a:off x="5387340" y="6019800"/>
            <a:ext cx="1501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Heatwave → critical alert &amp; health drop</a:t>
            </a:r>
            <a:endParaRPr lang="en-US" sz="950" dirty="0"/>
          </a:p>
        </p:txBody>
      </p:sp>
      <p:sp>
        <p:nvSpPr>
          <p:cNvPr id="54" name="Shape 42"/>
          <p:cNvSpPr/>
          <p:nvPr/>
        </p:nvSpPr>
        <p:spPr>
          <a:xfrm rot="5400000">
            <a:off x="6835140" y="5623560"/>
            <a:ext cx="228600" cy="19812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7086600" y="5516880"/>
            <a:ext cx="1318260" cy="464820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7117080" y="5516880"/>
            <a:ext cx="1257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VARROA SCAN</a:t>
            </a:r>
            <a:endParaRPr lang="en-US" sz="1150" dirty="0"/>
          </a:p>
        </p:txBody>
      </p:sp>
      <p:sp>
        <p:nvSpPr>
          <p:cNvPr id="57" name="Text 45"/>
          <p:cNvSpPr txBox="1"/>
          <p:nvPr/>
        </p:nvSpPr>
        <p:spPr>
          <a:xfrm>
            <a:off x="6995160" y="6019800"/>
            <a:ext cx="1501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photo → mites detected &amp; flagged</a:t>
            </a:r>
            <a:endParaRPr lang="en-US" sz="950" dirty="0"/>
          </a:p>
        </p:txBody>
      </p:sp>
      <p:sp>
        <p:nvSpPr>
          <p:cNvPr id="58" name="Shape 46"/>
          <p:cNvSpPr/>
          <p:nvPr/>
        </p:nvSpPr>
        <p:spPr>
          <a:xfrm rot="5400000">
            <a:off x="8442960" y="5623560"/>
            <a:ext cx="228600" cy="19812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8694420" y="5516880"/>
            <a:ext cx="1318260" cy="464820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8724900" y="5516880"/>
            <a:ext cx="1257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MINTED</a:t>
            </a:r>
            <a:endParaRPr lang="en-US" sz="1150" dirty="0"/>
          </a:p>
        </p:txBody>
      </p:sp>
      <p:sp>
        <p:nvSpPr>
          <p:cNvPr id="61" name="Text 49"/>
          <p:cNvSpPr txBox="1"/>
          <p:nvPr/>
        </p:nvSpPr>
        <p:spPr>
          <a:xfrm>
            <a:off x="8602980" y="6019800"/>
            <a:ext cx="1501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token + IPFS + QR generated</a:t>
            </a:r>
            <a:endParaRPr lang="en-US" sz="950" dirty="0"/>
          </a:p>
        </p:txBody>
      </p:sp>
      <p:sp>
        <p:nvSpPr>
          <p:cNvPr id="62" name="Shape 50"/>
          <p:cNvSpPr/>
          <p:nvPr/>
        </p:nvSpPr>
        <p:spPr>
          <a:xfrm rot="5400000">
            <a:off x="10050780" y="5623560"/>
            <a:ext cx="228600" cy="19812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10302240" y="5516880"/>
            <a:ext cx="1318260" cy="464820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10332720" y="5516880"/>
            <a:ext cx="1257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VERIFIED</a:t>
            </a:r>
            <a:endParaRPr lang="en-US" sz="1150" dirty="0"/>
          </a:p>
        </p:txBody>
      </p:sp>
      <p:sp>
        <p:nvSpPr>
          <p:cNvPr id="65" name="Text 53"/>
          <p:cNvSpPr txBox="1"/>
          <p:nvPr/>
        </p:nvSpPr>
        <p:spPr>
          <a:xfrm>
            <a:off x="10210800" y="6019800"/>
            <a:ext cx="1501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authentic / tampered / recalled</a:t>
            </a:r>
            <a:endParaRPr lang="en-US" sz="950" dirty="0"/>
          </a:p>
        </p:txBody>
      </p:sp>
      <p:sp>
        <p:nvSpPr>
          <p:cNvPr id="66" name="Shape 54"/>
          <p:cNvSpPr/>
          <p:nvPr/>
        </p:nvSpPr>
        <p:spPr>
          <a:xfrm>
            <a:off x="0" y="6347460"/>
            <a:ext cx="12192000" cy="5105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7" name="Text 55"/>
          <p:cNvSpPr txBox="1"/>
          <p:nvPr/>
        </p:nvSpPr>
        <p:spPr>
          <a:xfrm>
            <a:off x="3810000" y="6385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300" dirty="0"/>
          </a:p>
        </p:txBody>
      </p:sp>
      <p:sp>
        <p:nvSpPr>
          <p:cNvPr id="68" name="Text 56"/>
          <p:cNvSpPr txBox="1"/>
          <p:nvPr/>
        </p:nvSpPr>
        <p:spPr>
          <a:xfrm>
            <a:off x="11277600" y="638556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novo-Desktop-HONEY-CHAIN/860fd3a9-ab1a-4242-a904-1949ce643db1/scratchpad/ppt/te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15240"/>
            <a:ext cx="952500" cy="952500"/>
          </a:xfrm>
          <a:prstGeom prst="rect">
            <a:avLst/>
          </a:prstGeom>
        </p:spPr>
      </p:pic>
      <p:pic>
        <p:nvPicPr>
          <p:cNvPr id="3" name="Image 1" descr="/tmp/claude-1000/-home-lenovo-Desktop-HONEY-CHAIN/860fd3a9-ab1a-4242-a904-1949ce643db1/scratchpad/ppt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20" y="30480"/>
            <a:ext cx="2247900" cy="10591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95400" y="106680"/>
            <a:ext cx="83820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1295400" y="670560"/>
            <a:ext cx="838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 Sensing + AI Analytics + Blockchain Provenance + QR Verification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90500" y="1905000"/>
            <a:ext cx="396240" cy="396240"/>
          </a:xfrm>
          <a:prstGeom prst="ellipse">
            <a:avLst/>
          </a:prstGeom>
          <a:solidFill>
            <a:srgbClr val="1D4E89"/>
          </a:solidFill>
          <a:ln/>
        </p:spPr>
      </p:sp>
      <p:pic>
        <p:nvPicPr>
          <p:cNvPr id="7" name="Image 2" descr="/tmp/claude-1000/-home-lenovo-Desktop-HONEY-CHAIN/860fd3a9-ab1a-4242-a904-1949ce643db1/scratchpad/ppt/icons/s3_i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1996440"/>
            <a:ext cx="213360" cy="2133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7700" y="1905000"/>
            <a:ext cx="1371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Hive Nodes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47700" y="2095500"/>
            <a:ext cx="137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edge sensors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190500" y="2400300"/>
            <a:ext cx="1638300" cy="1996440"/>
          </a:xfrm>
          <a:prstGeom prst="roundRect">
            <a:avLst>
              <a:gd name="adj" fmla="val 5581"/>
            </a:avLst>
          </a:prstGeom>
          <a:solidFill>
            <a:srgbClr val="EEF4FB"/>
          </a:solidFill>
          <a:ln/>
        </p:spPr>
      </p:sp>
      <p:pic>
        <p:nvPicPr>
          <p:cNvPr id="11" name="Image 3" descr="/tmp/claude-1000/-home-lenovo-Desktop-HONEY-CHAIN/860fd3a9-ab1a-4242-a904-1949ce643db1/scratchpad/ppt/icons/s3_espressi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" y="2484120"/>
            <a:ext cx="198120" cy="1981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33400" y="2499360"/>
            <a:ext cx="1219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Espressif ESP32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281940" y="2773680"/>
            <a:ext cx="149352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&amp; humidity (SHT31)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 weight (HX711 load cell)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photos (phone camera)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simulator for demos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1828800" y="2895600"/>
            <a:ext cx="419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MQTT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1828800" y="3200400"/>
            <a:ext cx="3810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16" name="Shape 10"/>
          <p:cNvSpPr/>
          <p:nvPr/>
        </p:nvSpPr>
        <p:spPr>
          <a:xfrm>
            <a:off x="2209800" y="2286000"/>
            <a:ext cx="1600200" cy="1524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5875">
            <a:solidFill>
              <a:srgbClr val="B7C7D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2781300" y="2377440"/>
            <a:ext cx="457200" cy="457200"/>
          </a:xfrm>
          <a:prstGeom prst="ellipse">
            <a:avLst/>
          </a:prstGeom>
          <a:solidFill>
            <a:srgbClr val="009688"/>
          </a:solidFill>
          <a:ln/>
        </p:spPr>
      </p:sp>
      <p:pic>
        <p:nvPicPr>
          <p:cNvPr id="18" name="Image 4" descr="/tmp/claude-1000/-home-lenovo-Desktop-HONEY-CHAIN/860fd3a9-ab1a-4242-a904-1949ce643db1/scratchpad/ppt/icons/s3_ap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980" y="2484120"/>
            <a:ext cx="243840" cy="2438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255520" y="2880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2255520" y="3063240"/>
            <a:ext cx="1508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Python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2301240" y="3261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WebSocket APIs, rule engine, alerts &amp; batch lifecycle</a:t>
            </a:r>
            <a:endParaRPr lang="en-US" sz="950" dirty="0"/>
          </a:p>
        </p:txBody>
      </p:sp>
      <p:pic>
        <p:nvPicPr>
          <p:cNvPr id="22" name="Image 5" descr="/tmp/claude-1000/-home-lenovo-Desktop-HONEY-CHAIN/860fd3a9-ab1a-4242-a904-1949ce643db1/scratchpad/ppt/icons/s3_pyth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3901440"/>
            <a:ext cx="243840" cy="243840"/>
          </a:xfrm>
          <a:prstGeom prst="rect">
            <a:avLst/>
          </a:prstGeom>
        </p:spPr>
      </p:pic>
      <p:pic>
        <p:nvPicPr>
          <p:cNvPr id="23" name="Image 6" descr="/tmp/claude-1000/-home-lenovo-Desktop-HONEY-CHAIN/860fd3a9-ab1a-4242-a904-1949ce643db1/scratchpad/ppt/icons/s3_fastap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3901440"/>
            <a:ext cx="243840" cy="2438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124200" y="3931920"/>
            <a:ext cx="76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3810000" y="3048000"/>
            <a:ext cx="2286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4038600" y="1417320"/>
            <a:ext cx="0" cy="338328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4038600" y="1417320"/>
            <a:ext cx="19812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28" name="Shape 19"/>
          <p:cNvSpPr/>
          <p:nvPr/>
        </p:nvSpPr>
        <p:spPr>
          <a:xfrm>
            <a:off x="4251960" y="1219200"/>
            <a:ext cx="396240" cy="396240"/>
          </a:xfrm>
          <a:prstGeom prst="ellipse">
            <a:avLst/>
          </a:prstGeom>
          <a:solidFill>
            <a:srgbClr val="7B3FA0"/>
          </a:solidFill>
          <a:ln/>
        </p:spPr>
      </p:sp>
      <p:pic>
        <p:nvPicPr>
          <p:cNvPr id="29" name="Image 7" descr="/tmp/claude-1000/-home-lenovo-Desktop-HONEY-CHAIN/860fd3a9-ab1a-4242-a904-1949ce643db1/scratchpad/ppt/icons/s3_a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1020" y="1318260"/>
            <a:ext cx="198120" cy="1981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724400" y="1173480"/>
            <a:ext cx="190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</a:t>
            </a:r>
            <a:endParaRPr lang="en-US" sz="1400" dirty="0"/>
          </a:p>
        </p:txBody>
      </p:sp>
      <p:sp>
        <p:nvSpPr>
          <p:cNvPr id="31" name="Text 21"/>
          <p:cNvSpPr txBox="1"/>
          <p:nvPr/>
        </p:nvSpPr>
        <p:spPr>
          <a:xfrm>
            <a:off x="4724400" y="135636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· YOLO</a:t>
            </a:r>
            <a:endParaRPr lang="en-US" sz="1050" dirty="0"/>
          </a:p>
        </p:txBody>
      </p:sp>
      <p:sp>
        <p:nvSpPr>
          <p:cNvPr id="32" name="Text 22"/>
          <p:cNvSpPr txBox="1"/>
          <p:nvPr/>
        </p:nvSpPr>
        <p:spPr>
          <a:xfrm>
            <a:off x="4724400" y="15240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 anomalies, Varroa detection, explainable health &amp; yield models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6644640" y="1417320"/>
            <a:ext cx="1524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4038600" y="2545080"/>
            <a:ext cx="19812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4251960" y="2346960"/>
            <a:ext cx="396240" cy="396240"/>
          </a:xfrm>
          <a:prstGeom prst="ellipse">
            <a:avLst/>
          </a:prstGeom>
          <a:solidFill>
            <a:srgbClr val="3C3C3D"/>
          </a:solidFill>
          <a:ln/>
        </p:spPr>
      </p:sp>
      <p:pic>
        <p:nvPicPr>
          <p:cNvPr id="36" name="Image 8" descr="/tmp/claude-1000/-home-lenovo-Desktop-HONEY-CHAIN/860fd3a9-ab1a-4242-a904-1949ce643db1/scratchpad/ppt/icons/s3_cha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1020" y="2446020"/>
            <a:ext cx="198120" cy="1981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724400" y="2301240"/>
            <a:ext cx="190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Layer</a:t>
            </a:r>
            <a:endParaRPr lang="en-US" sz="1400" dirty="0"/>
          </a:p>
        </p:txBody>
      </p:sp>
      <p:sp>
        <p:nvSpPr>
          <p:cNvPr id="38" name="Text 27"/>
          <p:cNvSpPr txBox="1"/>
          <p:nvPr/>
        </p:nvSpPr>
        <p:spPr>
          <a:xfrm>
            <a:off x="4724400" y="248412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C3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· Ethereum Sepolia</a:t>
            </a:r>
            <a:endParaRPr lang="en-US" sz="1050" dirty="0"/>
          </a:p>
        </p:txBody>
      </p:sp>
      <p:sp>
        <p:nvSpPr>
          <p:cNvPr id="39" name="Text 28"/>
          <p:cNvSpPr txBox="1"/>
          <p:nvPr/>
        </p:nvSpPr>
        <p:spPr>
          <a:xfrm>
            <a:off x="4724400" y="265176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HoneyBatch with OpenZeppelin roles: Beekeeper mint, KVIC recall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6644640" y="2545080"/>
            <a:ext cx="1524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4038600" y="3672840"/>
            <a:ext cx="19812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4251960" y="3474720"/>
            <a:ext cx="396240" cy="396240"/>
          </a:xfrm>
          <a:prstGeom prst="ellipse">
            <a:avLst/>
          </a:prstGeom>
          <a:solidFill>
            <a:srgbClr val="1A9AA6"/>
          </a:solidFill>
          <a:ln/>
        </p:spPr>
      </p:sp>
      <p:pic>
        <p:nvPicPr>
          <p:cNvPr id="43" name="Image 9" descr="/tmp/claude-1000/-home-lenovo-Desktop-HONEY-CHAIN/860fd3a9-ab1a-4242-a904-1949ce643db1/scratchpad/ppt/icons/s3_ipf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1020" y="3573780"/>
            <a:ext cx="198120" cy="19812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24400" y="3429000"/>
            <a:ext cx="190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Metadata</a:t>
            </a:r>
            <a:endParaRPr lang="en-US" sz="1400" dirty="0"/>
          </a:p>
        </p:txBody>
      </p:sp>
      <p:sp>
        <p:nvSpPr>
          <p:cNvPr id="45" name="Text 33"/>
          <p:cNvSpPr txBox="1"/>
          <p:nvPr/>
        </p:nvSpPr>
        <p:spPr>
          <a:xfrm>
            <a:off x="4724400" y="361188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Content-addressed JSON</a:t>
            </a:r>
            <a:endParaRPr lang="en-US" sz="1050" dirty="0"/>
          </a:p>
        </p:txBody>
      </p:sp>
      <p:sp>
        <p:nvSpPr>
          <p:cNvPr id="46" name="Text 34"/>
          <p:cNvSpPr txBox="1"/>
          <p:nvPr/>
        </p:nvSpPr>
        <p:spPr>
          <a:xfrm>
            <a:off x="4724400" y="377952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Origin, weight, health &amp; harvest time pinned; CID stored as token URI</a:t>
            </a:r>
            <a:endParaRPr lang="en-US" sz="950" dirty="0"/>
          </a:p>
        </p:txBody>
      </p:sp>
      <p:sp>
        <p:nvSpPr>
          <p:cNvPr id="47" name="Shape 35"/>
          <p:cNvSpPr/>
          <p:nvPr/>
        </p:nvSpPr>
        <p:spPr>
          <a:xfrm>
            <a:off x="6644640" y="3672840"/>
            <a:ext cx="1524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4038600" y="4800600"/>
            <a:ext cx="19812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49" name="Shape 37"/>
          <p:cNvSpPr/>
          <p:nvPr/>
        </p:nvSpPr>
        <p:spPr>
          <a:xfrm>
            <a:off x="4251960" y="4602480"/>
            <a:ext cx="396240" cy="396240"/>
          </a:xfrm>
          <a:prstGeom prst="ellipse">
            <a:avLst/>
          </a:prstGeom>
          <a:solidFill>
            <a:srgbClr val="2F5DA8"/>
          </a:solidFill>
          <a:ln/>
        </p:spPr>
      </p:sp>
      <p:pic>
        <p:nvPicPr>
          <p:cNvPr id="50" name="Image 10" descr="/tmp/claude-1000/-home-lenovo-Desktop-HONEY-CHAIN/860fd3a9-ab1a-4242-a904-1949ce643db1/scratchpad/ppt/icons/s3_d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1020" y="4701540"/>
            <a:ext cx="198120" cy="198120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724400" y="4556760"/>
            <a:ext cx="190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400" dirty="0"/>
          </a:p>
        </p:txBody>
      </p:sp>
      <p:sp>
        <p:nvSpPr>
          <p:cNvPr id="52" name="Text 39"/>
          <p:cNvSpPr txBox="1"/>
          <p:nvPr/>
        </p:nvSpPr>
        <p:spPr>
          <a:xfrm>
            <a:off x="4724400" y="473964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SQLAlchemy</a:t>
            </a:r>
            <a:endParaRPr lang="en-US" sz="1050" dirty="0"/>
          </a:p>
        </p:txBody>
      </p:sp>
      <p:sp>
        <p:nvSpPr>
          <p:cNvPr id="53" name="Text 40"/>
          <p:cNvSpPr txBox="1"/>
          <p:nvPr/>
        </p:nvSpPr>
        <p:spPr>
          <a:xfrm>
            <a:off x="4724400" y="490728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Telemetry, alerts, analyses, batches &amp; audit trail</a:t>
            </a:r>
            <a:endParaRPr lang="en-US" sz="950" dirty="0"/>
          </a:p>
        </p:txBody>
      </p:sp>
      <p:sp>
        <p:nvSpPr>
          <p:cNvPr id="54" name="Shape 41"/>
          <p:cNvSpPr/>
          <p:nvPr/>
        </p:nvSpPr>
        <p:spPr>
          <a:xfrm>
            <a:off x="6644640" y="4800600"/>
            <a:ext cx="1524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6797040" y="1417320"/>
            <a:ext cx="0" cy="338328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6797040" y="3048000"/>
            <a:ext cx="152400" cy="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57" name="Shape 44"/>
          <p:cNvSpPr/>
          <p:nvPr/>
        </p:nvSpPr>
        <p:spPr>
          <a:xfrm>
            <a:off x="6949440" y="1905000"/>
            <a:ext cx="1447800" cy="2286000"/>
          </a:xfrm>
          <a:prstGeom prst="roundRect">
            <a:avLst>
              <a:gd name="adj" fmla="val 7579"/>
            </a:avLst>
          </a:prstGeom>
          <a:solidFill>
            <a:srgbClr val="FFFFFF"/>
          </a:solidFill>
          <a:ln w="15875">
            <a:solidFill>
              <a:srgbClr val="B7C7DB"/>
            </a:solidFill>
            <a:prstDash val="solid"/>
          </a:ln>
        </p:spPr>
      </p:sp>
      <p:sp>
        <p:nvSpPr>
          <p:cNvPr id="58" name="Shape 45"/>
          <p:cNvSpPr/>
          <p:nvPr/>
        </p:nvSpPr>
        <p:spPr>
          <a:xfrm>
            <a:off x="7444740" y="199644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59" name="Image 11" descr="/tmp/claude-1000/-home-lenovo-Desktop-HONEY-CHAIN/860fd3a9-ab1a-4242-a904-1949ce643db1/scratchpad/ppt/icons/s3_u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9040" y="2110740"/>
            <a:ext cx="228600" cy="228600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6995160" y="2514600"/>
            <a:ext cx="135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Portals</a:t>
            </a:r>
            <a:endParaRPr lang="en-US" sz="1250" dirty="0"/>
          </a:p>
        </p:txBody>
      </p:sp>
      <p:sp>
        <p:nvSpPr>
          <p:cNvPr id="61" name="Text 47"/>
          <p:cNvSpPr txBox="1"/>
          <p:nvPr/>
        </p:nvSpPr>
        <p:spPr>
          <a:xfrm>
            <a:off x="7056120" y="2788920"/>
            <a:ext cx="1295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Beekeeper portal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KVIC command center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QR passport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WebSocket updates</a:t>
            </a:r>
            <a:endParaRPr lang="en-US" sz="1050" dirty="0"/>
          </a:p>
        </p:txBody>
      </p:sp>
      <p:sp>
        <p:nvSpPr>
          <p:cNvPr id="62" name="Shape 48"/>
          <p:cNvSpPr/>
          <p:nvPr/>
        </p:nvSpPr>
        <p:spPr>
          <a:xfrm>
            <a:off x="7673340" y="4191000"/>
            <a:ext cx="0" cy="304800"/>
          </a:xfrm>
          <a:prstGeom prst="line">
            <a:avLst/>
          </a:prstGeom>
          <a:noFill/>
          <a:ln w="19050">
            <a:solidFill>
              <a:srgbClr val="1D4E89"/>
            </a:solidFill>
            <a:prstDash val="solid"/>
            <a:tailEnd type="triangle"/>
          </a:ln>
        </p:spPr>
      </p:sp>
      <p:sp>
        <p:nvSpPr>
          <p:cNvPr id="63" name="Shape 49"/>
          <p:cNvSpPr/>
          <p:nvPr/>
        </p:nvSpPr>
        <p:spPr>
          <a:xfrm>
            <a:off x="6949440" y="4511040"/>
            <a:ext cx="1447800" cy="762000"/>
          </a:xfrm>
          <a:prstGeom prst="roundRect">
            <a:avLst>
              <a:gd name="adj" fmla="val 14400"/>
            </a:avLst>
          </a:prstGeom>
          <a:solidFill>
            <a:srgbClr val="FFF4E0"/>
          </a:solidFill>
          <a:ln w="15875">
            <a:solidFill>
              <a:srgbClr val="F2C27A"/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7025640" y="4617720"/>
            <a:ext cx="335280" cy="335280"/>
          </a:xfrm>
          <a:prstGeom prst="ellipse">
            <a:avLst/>
          </a:prstGeom>
          <a:solidFill>
            <a:srgbClr val="E08E0B"/>
          </a:solidFill>
          <a:ln/>
        </p:spPr>
      </p:sp>
      <p:pic>
        <p:nvPicPr>
          <p:cNvPr id="65" name="Image 12" descr="/tmp/claude-1000/-home-lenovo-Desktop-HONEY-CHAIN/860fd3a9-ab1a-4242-a904-1949ce643db1/scratchpad/ppt/icons/s3_q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9460" y="4701540"/>
            <a:ext cx="167640" cy="167640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7406640" y="4572000"/>
            <a:ext cx="94488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scans jar QR → instant verification</a:t>
            </a:r>
            <a:endParaRPr lang="en-US" sz="950" dirty="0"/>
          </a:p>
        </p:txBody>
      </p:sp>
      <p:sp>
        <p:nvSpPr>
          <p:cNvPr id="67" name="Shape 52"/>
          <p:cNvSpPr/>
          <p:nvPr/>
        </p:nvSpPr>
        <p:spPr>
          <a:xfrm>
            <a:off x="190500" y="5676900"/>
            <a:ext cx="8206740" cy="441960"/>
          </a:xfrm>
          <a:prstGeom prst="roundRect">
            <a:avLst>
              <a:gd name="adj" fmla="val 20690"/>
            </a:avLst>
          </a:prstGeom>
          <a:solidFill>
            <a:srgbClr val="F2F6FB"/>
          </a:solidFill>
          <a:ln/>
        </p:spPr>
      </p:sp>
      <p:pic>
        <p:nvPicPr>
          <p:cNvPr id="68" name="Image 13" descr="/tmp/claude-1000/-home-lenovo-Desktop-HONEY-CHAIN/860fd3a9-ab1a-4242-a904-1949ce643db1/scratchpad/ppt/icons/s3_dock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5753100"/>
            <a:ext cx="289560" cy="289560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701040" y="5676900"/>
            <a:ext cx="76200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Docker Compose (PostgreSQL + FastAPI + Next.js + IoT simulator) — runs on cloud or NIC / State data centres; per-cluster rollout.</a:t>
            </a:r>
            <a:endParaRPr lang="en-US" sz="1100" dirty="0"/>
          </a:p>
        </p:txBody>
      </p:sp>
      <p:sp>
        <p:nvSpPr>
          <p:cNvPr id="70" name="Shape 54"/>
          <p:cNvSpPr/>
          <p:nvPr/>
        </p:nvSpPr>
        <p:spPr>
          <a:xfrm>
            <a:off x="8549640" y="1150620"/>
            <a:ext cx="3223260" cy="350520"/>
          </a:xfrm>
          <a:prstGeom prst="roundRect">
            <a:avLst>
              <a:gd name="adj" fmla="val 65217"/>
            </a:avLst>
          </a:prstGeom>
          <a:solidFill>
            <a:srgbClr val="5B3A8C"/>
          </a:solidFill>
          <a:ln/>
        </p:spPr>
      </p:sp>
      <p:sp>
        <p:nvSpPr>
          <p:cNvPr id="71" name="Text 55"/>
          <p:cNvSpPr txBox="1"/>
          <p:nvPr/>
        </p:nvSpPr>
        <p:spPr>
          <a:xfrm>
            <a:off x="8549640" y="1150620"/>
            <a:ext cx="32232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TECHNOLOGY?</a:t>
            </a:r>
            <a:endParaRPr lang="en-US" sz="1400" dirty="0"/>
          </a:p>
        </p:txBody>
      </p:sp>
      <p:sp>
        <p:nvSpPr>
          <p:cNvPr id="72" name="Shape 56"/>
          <p:cNvSpPr/>
          <p:nvPr/>
        </p:nvSpPr>
        <p:spPr>
          <a:xfrm>
            <a:off x="8564880" y="1562100"/>
            <a:ext cx="3192780" cy="56388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2225">
            <a:solidFill>
              <a:srgbClr val="1E6FB8"/>
            </a:solidFill>
            <a:prstDash val="solid"/>
          </a:ln>
        </p:spPr>
      </p:sp>
      <p:sp>
        <p:nvSpPr>
          <p:cNvPr id="73" name="Text 57"/>
          <p:cNvSpPr txBox="1"/>
          <p:nvPr/>
        </p:nvSpPr>
        <p:spPr>
          <a:xfrm>
            <a:off x="8641080" y="160782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6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IoT Nodes</a:t>
            </a:r>
            <a:endParaRPr lang="en-US" sz="1200" dirty="0"/>
          </a:p>
        </p:txBody>
      </p:sp>
      <p:sp>
        <p:nvSpPr>
          <p:cNvPr id="74" name="Text 58"/>
          <p:cNvSpPr txBox="1"/>
          <p:nvPr/>
        </p:nvSpPr>
        <p:spPr>
          <a:xfrm>
            <a:off x="8641080" y="17754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(≈ ₹1,500/hive) Wi-Fi sensor node; solar-friendly for rural apiaries.</a:t>
            </a:r>
            <a:endParaRPr lang="en-US" sz="1050" dirty="0"/>
          </a:p>
        </p:txBody>
      </p:sp>
      <p:sp>
        <p:nvSpPr>
          <p:cNvPr id="75" name="Shape 59"/>
          <p:cNvSpPr/>
          <p:nvPr/>
        </p:nvSpPr>
        <p:spPr>
          <a:xfrm>
            <a:off x="8564880" y="2186940"/>
            <a:ext cx="3192780" cy="56388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2225">
            <a:solidFill>
              <a:srgbClr val="14867A"/>
            </a:solidFill>
            <a:prstDash val="solid"/>
          </a:ln>
        </p:spPr>
      </p:sp>
      <p:sp>
        <p:nvSpPr>
          <p:cNvPr id="76" name="Text 60"/>
          <p:cNvSpPr txBox="1"/>
          <p:nvPr/>
        </p:nvSpPr>
        <p:spPr>
          <a:xfrm>
            <a:off x="8641080" y="223266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8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77" name="Text 61"/>
          <p:cNvSpPr txBox="1"/>
          <p:nvPr/>
        </p:nvSpPr>
        <p:spPr>
          <a:xfrm>
            <a:off x="8641080" y="240030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abnormal hive conditions without labelled failure data.</a:t>
            </a:r>
            <a:endParaRPr lang="en-US" sz="1050" dirty="0"/>
          </a:p>
        </p:txBody>
      </p:sp>
      <p:sp>
        <p:nvSpPr>
          <p:cNvPr id="78" name="Shape 62"/>
          <p:cNvSpPr/>
          <p:nvPr/>
        </p:nvSpPr>
        <p:spPr>
          <a:xfrm>
            <a:off x="8564880" y="2811780"/>
            <a:ext cx="3192780" cy="56388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2225">
            <a:solidFill>
              <a:srgbClr val="C2185B"/>
            </a:solidFill>
            <a:prstDash val="solid"/>
          </a:ln>
        </p:spPr>
      </p:sp>
      <p:sp>
        <p:nvSpPr>
          <p:cNvPr id="79" name="Text 63"/>
          <p:cNvSpPr txBox="1"/>
          <p:nvPr/>
        </p:nvSpPr>
        <p:spPr>
          <a:xfrm>
            <a:off x="8641080" y="285750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Vision</a:t>
            </a:r>
            <a:endParaRPr lang="en-US" sz="1200" dirty="0"/>
          </a:p>
        </p:txBody>
      </p:sp>
      <p:sp>
        <p:nvSpPr>
          <p:cNvPr id="80" name="Text 64"/>
          <p:cNvSpPr txBox="1"/>
          <p:nvPr/>
        </p:nvSpPr>
        <p:spPr>
          <a:xfrm>
            <a:off x="8641080" y="302514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Varroa mites on frame photos taken with a phone.</a:t>
            </a:r>
            <a:endParaRPr lang="en-US" sz="1050" dirty="0"/>
          </a:p>
        </p:txBody>
      </p:sp>
      <p:sp>
        <p:nvSpPr>
          <p:cNvPr id="81" name="Shape 65"/>
          <p:cNvSpPr/>
          <p:nvPr/>
        </p:nvSpPr>
        <p:spPr>
          <a:xfrm>
            <a:off x="8564880" y="3436620"/>
            <a:ext cx="3192780" cy="56388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2225">
            <a:solidFill>
              <a:srgbClr val="7E57C2"/>
            </a:solidFill>
            <a:prstDash val="solid"/>
          </a:ln>
        </p:spPr>
      </p:sp>
      <p:sp>
        <p:nvSpPr>
          <p:cNvPr id="82" name="Text 66"/>
          <p:cNvSpPr txBox="1"/>
          <p:nvPr/>
        </p:nvSpPr>
        <p:spPr>
          <a:xfrm>
            <a:off x="8641080" y="348234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E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+ Solidity</a:t>
            </a:r>
            <a:endParaRPr lang="en-US" sz="1200" dirty="0"/>
          </a:p>
        </p:txBody>
      </p:sp>
      <p:sp>
        <p:nvSpPr>
          <p:cNvPr id="83" name="Text 67"/>
          <p:cNvSpPr txBox="1"/>
          <p:nvPr/>
        </p:nvSpPr>
        <p:spPr>
          <a:xfrm>
            <a:off x="8641080" y="364998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batch is a unique, publicly verifiable token with role-based mint &amp; recall.</a:t>
            </a:r>
            <a:endParaRPr lang="en-US" sz="1050" dirty="0"/>
          </a:p>
        </p:txBody>
      </p:sp>
      <p:sp>
        <p:nvSpPr>
          <p:cNvPr id="84" name="Shape 68"/>
          <p:cNvSpPr/>
          <p:nvPr/>
        </p:nvSpPr>
        <p:spPr>
          <a:xfrm>
            <a:off x="8564880" y="4061460"/>
            <a:ext cx="3192780" cy="56388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2225">
            <a:solidFill>
              <a:srgbClr val="D35400"/>
            </a:solidFill>
            <a:prstDash val="solid"/>
          </a:ln>
        </p:spPr>
      </p:sp>
      <p:sp>
        <p:nvSpPr>
          <p:cNvPr id="85" name="Text 69"/>
          <p:cNvSpPr txBox="1"/>
          <p:nvPr/>
        </p:nvSpPr>
        <p:spPr>
          <a:xfrm>
            <a:off x="8641080" y="410718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+ IPFS</a:t>
            </a:r>
            <a:endParaRPr lang="en-US" sz="1200" dirty="0"/>
          </a:p>
        </p:txBody>
      </p:sp>
      <p:sp>
        <p:nvSpPr>
          <p:cNvPr id="86" name="Text 70"/>
          <p:cNvSpPr txBox="1"/>
          <p:nvPr/>
        </p:nvSpPr>
        <p:spPr>
          <a:xfrm>
            <a:off x="8641080" y="427482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record hash with decentralised metadata storage.</a:t>
            </a:r>
            <a:endParaRPr lang="en-US" sz="1050" dirty="0"/>
          </a:p>
        </p:txBody>
      </p:sp>
      <p:sp>
        <p:nvSpPr>
          <p:cNvPr id="87" name="Shape 71"/>
          <p:cNvSpPr/>
          <p:nvPr/>
        </p:nvSpPr>
        <p:spPr>
          <a:xfrm>
            <a:off x="8564880" y="4686300"/>
            <a:ext cx="3192780" cy="56388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22225">
            <a:solidFill>
              <a:srgbClr val="1C2833"/>
            </a:solidFill>
            <a:prstDash val="solid"/>
          </a:ln>
        </p:spPr>
      </p:sp>
      <p:sp>
        <p:nvSpPr>
          <p:cNvPr id="88" name="Text 72"/>
          <p:cNvSpPr txBox="1"/>
          <p:nvPr/>
        </p:nvSpPr>
        <p:spPr>
          <a:xfrm>
            <a:off x="8641080" y="473202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Next.js</a:t>
            </a:r>
            <a:endParaRPr lang="en-US" sz="1200" dirty="0"/>
          </a:p>
        </p:txBody>
      </p:sp>
      <p:sp>
        <p:nvSpPr>
          <p:cNvPr id="89" name="Text 73"/>
          <p:cNvSpPr txBox="1"/>
          <p:nvPr/>
        </p:nvSpPr>
        <p:spPr>
          <a:xfrm>
            <a:off x="8641080" y="48996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APIs, live WebSockets and mobile-friendly dashboards.</a:t>
            </a:r>
            <a:endParaRPr lang="en-US" sz="1050" dirty="0"/>
          </a:p>
        </p:txBody>
      </p:sp>
      <p:sp>
        <p:nvSpPr>
          <p:cNvPr id="90" name="Shape 74"/>
          <p:cNvSpPr/>
          <p:nvPr/>
        </p:nvSpPr>
        <p:spPr>
          <a:xfrm>
            <a:off x="8564880" y="5326380"/>
            <a:ext cx="3192780" cy="807720"/>
          </a:xfrm>
          <a:prstGeom prst="roundRect">
            <a:avLst>
              <a:gd name="adj" fmla="val 11321"/>
            </a:avLst>
          </a:prstGeom>
          <a:solidFill>
            <a:srgbClr val="FDEFE5"/>
          </a:solidFill>
          <a:ln w="22225">
            <a:solidFill>
              <a:srgbClr val="E67E22"/>
            </a:solidFill>
            <a:prstDash val="solid"/>
          </a:ln>
        </p:spPr>
      </p:sp>
      <p:sp>
        <p:nvSpPr>
          <p:cNvPr id="91" name="Text 75"/>
          <p:cNvSpPr txBox="1"/>
          <p:nvPr/>
        </p:nvSpPr>
        <p:spPr>
          <a:xfrm>
            <a:off x="8641080" y="5379720"/>
            <a:ext cx="3048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CHAIN DECISION</a:t>
            </a:r>
            <a:endParaRPr lang="en-US" sz="1200" dirty="0"/>
          </a:p>
        </p:txBody>
      </p:sp>
      <p:sp>
        <p:nvSpPr>
          <p:cNvPr id="92" name="Text 76"/>
          <p:cNvSpPr txBox="1"/>
          <p:nvPr/>
        </p:nvSpPr>
        <p:spPr>
          <a:xfrm>
            <a:off x="8641080" y="55626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+ AI Health Score + Vision Inspection → Verified Harvest → On-chain Batch → Consumer Trust</a:t>
            </a:r>
            <a:endParaRPr lang="en-US" sz="1100" dirty="0"/>
          </a:p>
        </p:txBody>
      </p:sp>
      <p:sp>
        <p:nvSpPr>
          <p:cNvPr id="93" name="Shape 77"/>
          <p:cNvSpPr/>
          <p:nvPr/>
        </p:nvSpPr>
        <p:spPr>
          <a:xfrm>
            <a:off x="0" y="6347460"/>
            <a:ext cx="12192000" cy="5105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4" name="Text 78"/>
          <p:cNvSpPr txBox="1"/>
          <p:nvPr/>
        </p:nvSpPr>
        <p:spPr>
          <a:xfrm>
            <a:off x="3810000" y="6385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300" dirty="0"/>
          </a:p>
        </p:txBody>
      </p:sp>
      <p:sp>
        <p:nvSpPr>
          <p:cNvPr id="95" name="Text 79"/>
          <p:cNvSpPr txBox="1"/>
          <p:nvPr/>
        </p:nvSpPr>
        <p:spPr>
          <a:xfrm>
            <a:off x="11277600" y="638556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novo-Desktop-HONEY-CHAIN/860fd3a9-ab1a-4242-a904-1949ce643db1/scratchpad/ppt/te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15240"/>
            <a:ext cx="952500" cy="952500"/>
          </a:xfrm>
          <a:prstGeom prst="rect">
            <a:avLst/>
          </a:prstGeom>
        </p:spPr>
      </p:pic>
      <p:pic>
        <p:nvPicPr>
          <p:cNvPr id="3" name="Image 1" descr="/tmp/claude-1000/-home-lenovo-Desktop-HONEY-CHAIN/860fd3a9-ab1a-4242-a904-1949ce643db1/scratchpad/ppt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20" y="30480"/>
            <a:ext cx="2247900" cy="10591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95400" y="106680"/>
            <a:ext cx="83820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1295400" y="670560"/>
            <a:ext cx="838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Low-cost • Rural-ready • Modular • Scalable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365760" y="1120140"/>
            <a:ext cx="5539740" cy="24003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8100">
            <a:solidFill>
              <a:srgbClr val="AFC8E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65760" y="1120140"/>
            <a:ext cx="5539740" cy="731520"/>
          </a:xfrm>
          <a:prstGeom prst="roundRect">
            <a:avLst>
              <a:gd name="adj" fmla="val 22500"/>
            </a:avLst>
          </a:prstGeom>
          <a:solidFill>
            <a:srgbClr val="D6E6F9"/>
          </a:solidFill>
          <a:ln w="38100">
            <a:solidFill>
              <a:srgbClr val="AFC8E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211580"/>
            <a:ext cx="487680" cy="487680"/>
          </a:xfrm>
          <a:prstGeom prst="ellipse">
            <a:avLst/>
          </a:prstGeom>
          <a:solidFill>
            <a:srgbClr val="0B63C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57200" y="121158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1181100"/>
            <a:ext cx="4495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IT ?</a:t>
            </a:r>
            <a:endParaRPr lang="en-US" sz="25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1501140"/>
            <a:ext cx="449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 Working Prototype, Open Stack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001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3C5"/>
            </a:solidFill>
            <a:prstDash val="solid"/>
          </a:ln>
        </p:spPr>
      </p:sp>
      <p:pic>
        <p:nvPicPr>
          <p:cNvPr id="13" name="Image 2" descr="/tmp/claude-1000/-home-lenovo-Desktop-HONEY-CHAIN/860fd3a9-ab1a-4242-a904-1949ce643db1/scratchpad/ppt/icons/q1_st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" y="21031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Stack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4724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Next.js, Solidity &amp; scikit-learn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9431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3C5"/>
            </a:solidFill>
            <a:prstDash val="solid"/>
          </a:ln>
        </p:spPr>
      </p:sp>
      <p:pic>
        <p:nvPicPr>
          <p:cNvPr id="17" name="Image 3" descr="/tmp/claude-1000/-home-lenovo-Desktop-HONEY-CHAIN/860fd3a9-ab1a-4242-a904-1949ce643db1/scratchpad/ppt/icons/q1_pro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780" y="21031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16154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hive-to-jar flow already live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0861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3C5"/>
            </a:solidFill>
            <a:prstDash val="solid"/>
          </a:ln>
        </p:spPr>
      </p:sp>
      <p:pic>
        <p:nvPicPr>
          <p:cNvPr id="21" name="Image 4" descr="/tmp/claude-1000/-home-lenovo-Desktop-HONEY-CHAIN/860fd3a9-ab1a-4242-a904-1949ce643db1/scratchpad/ppt/icons/q1_co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780" y="21031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7432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Hardware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27584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sensor node ≈ ₹1,500 per hive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2291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63C5"/>
            </a:solidFill>
            <a:prstDash val="solid"/>
          </a:ln>
        </p:spPr>
      </p:sp>
      <p:pic>
        <p:nvPicPr>
          <p:cNvPr id="25" name="Image 5" descr="/tmp/claude-1000/-home-lenovo-Desktop-HONEY-CHAIN/860fd3a9-ab1a-4242-a904-1949ce643db1/scratchpad/ppt/icons/q1_modu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780" y="21031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8862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39014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sensors, models or chain independently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210300" y="1120140"/>
            <a:ext cx="5539740" cy="24003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8100">
            <a:solidFill>
              <a:srgbClr val="F6D2A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10300" y="1120140"/>
            <a:ext cx="5539740" cy="731520"/>
          </a:xfrm>
          <a:prstGeom prst="roundRect">
            <a:avLst>
              <a:gd name="adj" fmla="val 22500"/>
            </a:avLst>
          </a:prstGeom>
          <a:solidFill>
            <a:srgbClr val="FDEEDC"/>
          </a:solidFill>
          <a:ln w="38100">
            <a:solidFill>
              <a:srgbClr val="F6D2A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1155680" y="1211580"/>
            <a:ext cx="487680" cy="487680"/>
          </a:xfrm>
          <a:prstGeom prst="ellipse">
            <a:avLst/>
          </a:prstGeom>
          <a:solidFill>
            <a:srgbClr val="F27D05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11155680" y="121158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32" name="Text 24"/>
          <p:cNvSpPr txBox="1"/>
          <p:nvPr/>
        </p:nvSpPr>
        <p:spPr>
          <a:xfrm>
            <a:off x="6515100" y="1181100"/>
            <a:ext cx="4495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SOLVE IT?</a:t>
            </a:r>
            <a:endParaRPr lang="en-US" sz="2500" dirty="0"/>
          </a:p>
        </p:txBody>
      </p:sp>
      <p:sp>
        <p:nvSpPr>
          <p:cNvPr id="33" name="Text 25"/>
          <p:cNvSpPr txBox="1"/>
          <p:nvPr/>
        </p:nvSpPr>
        <p:spPr>
          <a:xfrm>
            <a:off x="6515100" y="1501140"/>
            <a:ext cx="449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Pipeline for Rural Conditions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74676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7D05"/>
            </a:solidFill>
            <a:prstDash val="solid"/>
          </a:ln>
        </p:spPr>
      </p:sp>
      <p:pic>
        <p:nvPicPr>
          <p:cNvPr id="35" name="Image 6" descr="/tmp/claude-1000/-home-lenovo-Desktop-HONEY-CHAIN/860fd3a9-ab1a-4242-a904-1949ce643db1/scratchpad/ppt/icons/q2_offlin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280" y="210312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247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Buffering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71399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store &amp; forward readings when network drops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86106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7D05"/>
            </a:solidFill>
            <a:prstDash val="solid"/>
          </a:ln>
        </p:spPr>
      </p:sp>
      <p:pic>
        <p:nvPicPr>
          <p:cNvPr id="39" name="Image 7" descr="/tmp/claude-1000/-home-lenovo-Desktop-HONEY-CHAIN/860fd3a9-ab1a-4242-a904-1949ce643db1/scratchpad/ppt/icons/q2_expl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7280" y="2103120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677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41" name="Text 31"/>
          <p:cNvSpPr txBox="1"/>
          <p:nvPr/>
        </p:nvSpPr>
        <p:spPr>
          <a:xfrm>
            <a:off x="82829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health score shows the reason behind it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97536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7D05"/>
            </a:solidFill>
            <a:prstDash val="solid"/>
          </a:ln>
        </p:spPr>
      </p:sp>
      <p:pic>
        <p:nvPicPr>
          <p:cNvPr id="43" name="Image 8" descr="/tmp/claude-1000/-home-lenovo-Desktop-HONEY-CHAIN/860fd3a9-ab1a-4242-a904-1949ce643db1/scratchpad/ppt/icons/q2_ga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0280" y="2103120"/>
            <a:ext cx="228600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4107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Gas-Efficient Minting</a:t>
            </a:r>
            <a:endParaRPr lang="en-US" sz="1150" dirty="0"/>
          </a:p>
        </p:txBody>
      </p:sp>
      <p:sp>
        <p:nvSpPr>
          <p:cNvPr id="45" name="Text 34"/>
          <p:cNvSpPr txBox="1"/>
          <p:nvPr/>
        </p:nvSpPr>
        <p:spPr>
          <a:xfrm>
            <a:off x="94259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token per harvest batch, not per reading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10896600" y="19964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7D05"/>
            </a:solidFill>
            <a:prstDash val="solid"/>
          </a:ln>
        </p:spPr>
      </p:sp>
      <p:pic>
        <p:nvPicPr>
          <p:cNvPr id="47" name="Image 9" descr="/tmp/claude-1000/-home-lenovo-Desktop-HONEY-CHAIN/860fd3a9-ab1a-4242-a904-1949ce643db1/scratchpad/ppt/icons/q2_mobi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3280" y="2103120"/>
            <a:ext cx="228600" cy="2286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0553700" y="24917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UI</a:t>
            </a:r>
            <a:endParaRPr lang="en-US" sz="1150" dirty="0"/>
          </a:p>
        </p:txBody>
      </p:sp>
      <p:sp>
        <p:nvSpPr>
          <p:cNvPr id="49" name="Text 37"/>
          <p:cNvSpPr txBox="1"/>
          <p:nvPr/>
        </p:nvSpPr>
        <p:spPr>
          <a:xfrm>
            <a:off x="10568940" y="27965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low-end smartphones in the field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365760" y="3710940"/>
            <a:ext cx="5539740" cy="2438400"/>
          </a:xfrm>
          <a:prstGeom prst="roundRect">
            <a:avLst>
              <a:gd name="adj" fmla="val 6750"/>
            </a:avLst>
          </a:prstGeom>
          <a:solidFill>
            <a:srgbClr val="FFFFFF"/>
          </a:solidFill>
          <a:ln w="38100">
            <a:solidFill>
              <a:srgbClr val="A9D8D5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365760" y="3710940"/>
            <a:ext cx="5539740" cy="731520"/>
          </a:xfrm>
          <a:prstGeom prst="roundRect">
            <a:avLst>
              <a:gd name="adj" fmla="val 22500"/>
            </a:avLst>
          </a:prstGeom>
          <a:solidFill>
            <a:srgbClr val="D6EFEF"/>
          </a:solidFill>
          <a:ln w="38100">
            <a:solidFill>
              <a:srgbClr val="A9D8D5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457200" y="3802380"/>
            <a:ext cx="487680" cy="4876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3" name="Text 41"/>
          <p:cNvSpPr txBox="1"/>
          <p:nvPr/>
        </p:nvSpPr>
        <p:spPr>
          <a:xfrm>
            <a:off x="457200" y="380238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54" name="Text 42"/>
          <p:cNvSpPr txBox="1"/>
          <p:nvPr/>
        </p:nvSpPr>
        <p:spPr>
          <a:xfrm>
            <a:off x="1051560" y="3771900"/>
            <a:ext cx="4495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GO WRONG?</a:t>
            </a:r>
            <a:endParaRPr lang="en-US" sz="2500" dirty="0"/>
          </a:p>
        </p:txBody>
      </p:sp>
      <p:sp>
        <p:nvSpPr>
          <p:cNvPr id="55" name="Text 43"/>
          <p:cNvSpPr txBox="1"/>
          <p:nvPr/>
        </p:nvSpPr>
        <p:spPr>
          <a:xfrm>
            <a:off x="1051560" y="4091940"/>
            <a:ext cx="449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Challenges + Mitigations</a:t>
            </a:r>
            <a:endParaRPr lang="en-US" sz="1800" dirty="0"/>
          </a:p>
        </p:txBody>
      </p:sp>
      <p:sp>
        <p:nvSpPr>
          <p:cNvPr id="56" name="Shape 44"/>
          <p:cNvSpPr/>
          <p:nvPr/>
        </p:nvSpPr>
        <p:spPr>
          <a:xfrm>
            <a:off x="8001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pic>
        <p:nvPicPr>
          <p:cNvPr id="57" name="Image 10" descr="/tmp/claude-1000/-home-lenovo-Desktop-HONEY-CHAIN/860fd3a9-ab1a-4242-a904-1949ce643db1/scratchpad/ppt/icons/q3_netwo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780" y="4693920"/>
            <a:ext cx="228600" cy="22860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4572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Connectivity</a:t>
            </a:r>
            <a:endParaRPr lang="en-US" sz="1150" dirty="0"/>
          </a:p>
        </p:txBody>
      </p:sp>
      <p:sp>
        <p:nvSpPr>
          <p:cNvPr id="59" name="Text 46"/>
          <p:cNvSpPr txBox="1"/>
          <p:nvPr/>
        </p:nvSpPr>
        <p:spPr>
          <a:xfrm>
            <a:off x="4724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LoRa/GSM fallback with store-and-forward</a:t>
            </a:r>
            <a:endParaRPr lang="en-US" sz="1050" dirty="0"/>
          </a:p>
        </p:txBody>
      </p:sp>
      <p:sp>
        <p:nvSpPr>
          <p:cNvPr id="60" name="Shape 47"/>
          <p:cNvSpPr/>
          <p:nvPr/>
        </p:nvSpPr>
        <p:spPr>
          <a:xfrm>
            <a:off x="19431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pic>
        <p:nvPicPr>
          <p:cNvPr id="61" name="Image 11" descr="/tmp/claude-1000/-home-lenovo-Desktop-HONEY-CHAIN/860fd3a9-ab1a-4242-a904-1949ce643db1/scratchpad/ppt/icons/q3_tamp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49780" y="4693920"/>
            <a:ext cx="228600" cy="228600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16002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Tampering</a:t>
            </a:r>
            <a:endParaRPr lang="en-US" sz="1150" dirty="0"/>
          </a:p>
        </p:txBody>
      </p:sp>
      <p:sp>
        <p:nvSpPr>
          <p:cNvPr id="63" name="Text 49"/>
          <p:cNvSpPr txBox="1"/>
          <p:nvPr/>
        </p:nvSpPr>
        <p:spPr>
          <a:xfrm>
            <a:off x="16154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temperature &amp; AI checks cross-validate</a:t>
            </a:r>
            <a:endParaRPr lang="en-US" sz="1050" dirty="0"/>
          </a:p>
        </p:txBody>
      </p:sp>
      <p:sp>
        <p:nvSpPr>
          <p:cNvPr id="64" name="Shape 50"/>
          <p:cNvSpPr/>
          <p:nvPr/>
        </p:nvSpPr>
        <p:spPr>
          <a:xfrm>
            <a:off x="30861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pic>
        <p:nvPicPr>
          <p:cNvPr id="65" name="Image 12" descr="/tmp/claude-1000/-home-lenovo-Desktop-HONEY-CHAIN/860fd3a9-ab1a-4242-a904-1949ce643db1/scratchpad/ppt/icons/q3_literac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2780" y="4693920"/>
            <a:ext cx="228600" cy="228600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27432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Literacy</a:t>
            </a:r>
            <a:endParaRPr lang="en-US" sz="1150" dirty="0"/>
          </a:p>
        </p:txBody>
      </p:sp>
      <p:sp>
        <p:nvSpPr>
          <p:cNvPr id="67" name="Text 52"/>
          <p:cNvSpPr txBox="1"/>
          <p:nvPr/>
        </p:nvSpPr>
        <p:spPr>
          <a:xfrm>
            <a:off x="27584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UI + cluster training via KVIC</a:t>
            </a:r>
            <a:endParaRPr lang="en-US" sz="1050" dirty="0"/>
          </a:p>
        </p:txBody>
      </p:sp>
      <p:sp>
        <p:nvSpPr>
          <p:cNvPr id="68" name="Shape 53"/>
          <p:cNvSpPr/>
          <p:nvPr/>
        </p:nvSpPr>
        <p:spPr>
          <a:xfrm>
            <a:off x="42291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pic>
        <p:nvPicPr>
          <p:cNvPr id="69" name="Image 13" descr="/tmp/claude-1000/-home-lenovo-Desktop-HONEY-CHAIN/860fd3a9-ab1a-4242-a904-1949ce643db1/scratchpad/ppt/icons/q3_fee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5780" y="4693920"/>
            <a:ext cx="228600" cy="2286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38862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Costs</a:t>
            </a:r>
            <a:endParaRPr lang="en-US" sz="1150" dirty="0"/>
          </a:p>
        </p:txBody>
      </p:sp>
      <p:sp>
        <p:nvSpPr>
          <p:cNvPr id="71" name="Text 55"/>
          <p:cNvSpPr txBox="1"/>
          <p:nvPr/>
        </p:nvSpPr>
        <p:spPr>
          <a:xfrm>
            <a:off x="39014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Batch-level minting; Polygon / L2 ready</a:t>
            </a:r>
            <a:endParaRPr lang="en-US" sz="1050" dirty="0"/>
          </a:p>
        </p:txBody>
      </p:sp>
      <p:sp>
        <p:nvSpPr>
          <p:cNvPr id="72" name="Shape 56"/>
          <p:cNvSpPr/>
          <p:nvPr/>
        </p:nvSpPr>
        <p:spPr>
          <a:xfrm>
            <a:off x="6248400" y="3710940"/>
            <a:ext cx="5539740" cy="2438400"/>
          </a:xfrm>
          <a:prstGeom prst="roundRect">
            <a:avLst>
              <a:gd name="adj" fmla="val 6750"/>
            </a:avLst>
          </a:prstGeom>
          <a:solidFill>
            <a:srgbClr val="FFFFFF"/>
          </a:solidFill>
          <a:ln w="38100">
            <a:solidFill>
              <a:srgbClr val="F7B9B9"/>
            </a:solidFill>
            <a:prstDash val="solid"/>
          </a:ln>
        </p:spPr>
      </p:sp>
      <p:sp>
        <p:nvSpPr>
          <p:cNvPr id="73" name="Shape 57"/>
          <p:cNvSpPr/>
          <p:nvPr/>
        </p:nvSpPr>
        <p:spPr>
          <a:xfrm>
            <a:off x="6248400" y="3710940"/>
            <a:ext cx="5539740" cy="731520"/>
          </a:xfrm>
          <a:prstGeom prst="roundRect">
            <a:avLst>
              <a:gd name="adj" fmla="val 22500"/>
            </a:avLst>
          </a:prstGeom>
          <a:solidFill>
            <a:srgbClr val="FEE1E1"/>
          </a:solidFill>
          <a:ln w="38100">
            <a:solidFill>
              <a:srgbClr val="F7B9B9"/>
            </a:solidFill>
            <a:prstDash val="solid"/>
          </a:ln>
        </p:spPr>
      </p:sp>
      <p:sp>
        <p:nvSpPr>
          <p:cNvPr id="74" name="Shape 58"/>
          <p:cNvSpPr/>
          <p:nvPr/>
        </p:nvSpPr>
        <p:spPr>
          <a:xfrm>
            <a:off x="11193780" y="3802380"/>
            <a:ext cx="487680" cy="487680"/>
          </a:xfrm>
          <a:prstGeom prst="ellipse">
            <a:avLst/>
          </a:prstGeom>
          <a:solidFill>
            <a:srgbClr val="FF5757"/>
          </a:solidFill>
          <a:ln/>
        </p:spPr>
      </p:sp>
      <p:sp>
        <p:nvSpPr>
          <p:cNvPr id="75" name="Text 59"/>
          <p:cNvSpPr txBox="1"/>
          <p:nvPr/>
        </p:nvSpPr>
        <p:spPr>
          <a:xfrm>
            <a:off x="11193780" y="380238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76" name="Text 60"/>
          <p:cNvSpPr txBox="1"/>
          <p:nvPr/>
        </p:nvSpPr>
        <p:spPr>
          <a:xfrm>
            <a:off x="6553200" y="3771900"/>
            <a:ext cx="4495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FF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Scale Across KVIC?</a:t>
            </a:r>
            <a:endParaRPr lang="en-US" sz="2500" dirty="0"/>
          </a:p>
        </p:txBody>
      </p:sp>
      <p:sp>
        <p:nvSpPr>
          <p:cNvPr id="77" name="Text 61"/>
          <p:cNvSpPr txBox="1"/>
          <p:nvPr/>
        </p:nvSpPr>
        <p:spPr>
          <a:xfrm>
            <a:off x="6553200" y="4091940"/>
            <a:ext cx="449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Cluster-Ready &amp; Govt-Integrable</a:t>
            </a:r>
            <a:endParaRPr lang="en-US" sz="1800" dirty="0"/>
          </a:p>
        </p:txBody>
      </p:sp>
      <p:sp>
        <p:nvSpPr>
          <p:cNvPr id="78" name="Shape 62"/>
          <p:cNvSpPr/>
          <p:nvPr/>
        </p:nvSpPr>
        <p:spPr>
          <a:xfrm>
            <a:off x="75057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757"/>
            </a:solidFill>
            <a:prstDash val="solid"/>
          </a:ln>
        </p:spPr>
      </p:sp>
      <p:pic>
        <p:nvPicPr>
          <p:cNvPr id="79" name="Image 14" descr="/tmp/claude-1000/-home-lenovo-Desktop-HONEY-CHAIN/860fd3a9-ab1a-4242-a904-1949ce643db1/scratchpad/ppt/icons/q4_clust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2380" y="4693920"/>
            <a:ext cx="228600" cy="228600"/>
          </a:xfrm>
          <a:prstGeom prst="rect">
            <a:avLst/>
          </a:prstGeom>
        </p:spPr>
      </p:pic>
      <p:sp>
        <p:nvSpPr>
          <p:cNvPr id="80" name="Text 63"/>
          <p:cNvSpPr txBox="1"/>
          <p:nvPr/>
        </p:nvSpPr>
        <p:spPr>
          <a:xfrm>
            <a:off x="71628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Rollout</a:t>
            </a:r>
            <a:endParaRPr lang="en-US" sz="1150" dirty="0"/>
          </a:p>
        </p:txBody>
      </p:sp>
      <p:sp>
        <p:nvSpPr>
          <p:cNvPr id="81" name="Text 64"/>
          <p:cNvSpPr txBox="1"/>
          <p:nvPr/>
        </p:nvSpPr>
        <p:spPr>
          <a:xfrm>
            <a:off x="71780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Per-apiary dashboards for every KVIC cluster</a:t>
            </a:r>
            <a:endParaRPr lang="en-US" sz="1050" dirty="0"/>
          </a:p>
        </p:txBody>
      </p:sp>
      <p:sp>
        <p:nvSpPr>
          <p:cNvPr id="82" name="Shape 65"/>
          <p:cNvSpPr/>
          <p:nvPr/>
        </p:nvSpPr>
        <p:spPr>
          <a:xfrm>
            <a:off x="86487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757"/>
            </a:solidFill>
            <a:prstDash val="solid"/>
          </a:ln>
        </p:spPr>
      </p:sp>
      <p:pic>
        <p:nvPicPr>
          <p:cNvPr id="83" name="Image 15" descr="/tmp/claude-1000/-home-lenovo-Desktop-HONEY-CHAIN/860fd3a9-ab1a-4242-a904-1949ce643db1/scratchpad/ppt/icons/q4_kvic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55380" y="4693920"/>
            <a:ext cx="228600" cy="228600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83058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Mission Link</a:t>
            </a:r>
            <a:endParaRPr lang="en-US" sz="1150" dirty="0"/>
          </a:p>
        </p:txBody>
      </p:sp>
      <p:sp>
        <p:nvSpPr>
          <p:cNvPr id="85" name="Text 67"/>
          <p:cNvSpPr txBox="1"/>
          <p:nvPr/>
        </p:nvSpPr>
        <p:spPr>
          <a:xfrm>
            <a:off x="83210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Bee-box beneficiaries mapped to live hives</a:t>
            </a:r>
            <a:endParaRPr lang="en-US" sz="1050" dirty="0"/>
          </a:p>
        </p:txBody>
      </p:sp>
      <p:sp>
        <p:nvSpPr>
          <p:cNvPr id="86" name="Shape 68"/>
          <p:cNvSpPr/>
          <p:nvPr/>
        </p:nvSpPr>
        <p:spPr>
          <a:xfrm>
            <a:off x="97917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757"/>
            </a:solidFill>
            <a:prstDash val="solid"/>
          </a:ln>
        </p:spPr>
      </p:sp>
      <p:pic>
        <p:nvPicPr>
          <p:cNvPr id="87" name="Image 16" descr="/tmp/claude-1000/-home-lenovo-Desktop-HONEY-CHAIN/860fd3a9-ab1a-4242-a904-1949ce643db1/scratchpad/ppt/icons/q4_serv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98380" y="4693920"/>
            <a:ext cx="228600" cy="228600"/>
          </a:xfrm>
          <a:prstGeom prst="rect">
            <a:avLst/>
          </a:prstGeom>
        </p:spPr>
      </p:pic>
      <p:sp>
        <p:nvSpPr>
          <p:cNvPr id="88" name="Text 69"/>
          <p:cNvSpPr txBox="1"/>
          <p:nvPr/>
        </p:nvSpPr>
        <p:spPr>
          <a:xfrm>
            <a:off x="94488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or On-Prem</a:t>
            </a:r>
            <a:endParaRPr lang="en-US" sz="1150" dirty="0"/>
          </a:p>
        </p:txBody>
      </p:sp>
      <p:sp>
        <p:nvSpPr>
          <p:cNvPr id="89" name="Text 70"/>
          <p:cNvSpPr txBox="1"/>
          <p:nvPr/>
        </p:nvSpPr>
        <p:spPr>
          <a:xfrm>
            <a:off x="94640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Dockerised stack runs on NIC / State servers</a:t>
            </a:r>
            <a:endParaRPr lang="en-US" sz="1050" dirty="0"/>
          </a:p>
        </p:txBody>
      </p:sp>
      <p:sp>
        <p:nvSpPr>
          <p:cNvPr id="90" name="Shape 71"/>
          <p:cNvSpPr/>
          <p:nvPr/>
        </p:nvSpPr>
        <p:spPr>
          <a:xfrm>
            <a:off x="10934700" y="4587240"/>
            <a:ext cx="441960" cy="44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757"/>
            </a:solidFill>
            <a:prstDash val="solid"/>
          </a:ln>
        </p:spPr>
      </p:sp>
      <p:pic>
        <p:nvPicPr>
          <p:cNvPr id="91" name="Image 17" descr="/tmp/claude-1000/-home-lenovo-Desktop-HONEY-CHAIN/860fd3a9-ab1a-4242-a904-1949ce643db1/scratchpad/ppt/icons/q4_mark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41380" y="4693920"/>
            <a:ext cx="228600" cy="228600"/>
          </a:xfrm>
          <a:prstGeom prst="rect">
            <a:avLst/>
          </a:prstGeom>
        </p:spPr>
      </p:pic>
      <p:sp>
        <p:nvSpPr>
          <p:cNvPr id="92" name="Text 72"/>
          <p:cNvSpPr txBox="1"/>
          <p:nvPr/>
        </p:nvSpPr>
        <p:spPr>
          <a:xfrm>
            <a:off x="10591800" y="5082540"/>
            <a:ext cx="1127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Access</a:t>
            </a:r>
            <a:endParaRPr lang="en-US" sz="1150" dirty="0"/>
          </a:p>
        </p:txBody>
      </p:sp>
      <p:sp>
        <p:nvSpPr>
          <p:cNvPr id="93" name="Text 73"/>
          <p:cNvSpPr txBox="1"/>
          <p:nvPr/>
        </p:nvSpPr>
        <p:spPr>
          <a:xfrm>
            <a:off x="10607040" y="5387340"/>
            <a:ext cx="1097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batches ready for e-commerce &amp; export</a:t>
            </a:r>
            <a:endParaRPr lang="en-US" sz="1050" dirty="0"/>
          </a:p>
        </p:txBody>
      </p:sp>
      <p:sp>
        <p:nvSpPr>
          <p:cNvPr id="94" name="Shape 74"/>
          <p:cNvSpPr/>
          <p:nvPr/>
        </p:nvSpPr>
        <p:spPr>
          <a:xfrm>
            <a:off x="5052060" y="2575560"/>
            <a:ext cx="2042160" cy="2042160"/>
          </a:xfrm>
          <a:prstGeom prst="blockArc">
            <a:avLst>
              <a:gd name="adj1" fmla="val 16200000"/>
              <a:gd name="adj2" fmla="val 0"/>
              <a:gd name="adj3" fmla="val 3000"/>
            </a:avLst>
          </a:prstGeom>
          <a:solidFill>
            <a:srgbClr val="F2A93B"/>
          </a:solidFill>
          <a:ln/>
        </p:spPr>
      </p:sp>
      <p:sp>
        <p:nvSpPr>
          <p:cNvPr id="95" name="Shape 75"/>
          <p:cNvSpPr/>
          <p:nvPr/>
        </p:nvSpPr>
        <p:spPr>
          <a:xfrm>
            <a:off x="5052060" y="2575560"/>
            <a:ext cx="2042160" cy="2042160"/>
          </a:xfrm>
          <a:prstGeom prst="blockArc">
            <a:avLst>
              <a:gd name="adj1" fmla="val 0"/>
              <a:gd name="adj2" fmla="val 5400000"/>
              <a:gd name="adj3" fmla="val 3000"/>
            </a:avLst>
          </a:prstGeom>
          <a:solidFill>
            <a:srgbClr val="F28B8B"/>
          </a:solidFill>
          <a:ln/>
        </p:spPr>
      </p:sp>
      <p:sp>
        <p:nvSpPr>
          <p:cNvPr id="96" name="Shape 76"/>
          <p:cNvSpPr/>
          <p:nvPr/>
        </p:nvSpPr>
        <p:spPr>
          <a:xfrm>
            <a:off x="5052060" y="2575560"/>
            <a:ext cx="2042160" cy="2042160"/>
          </a:xfrm>
          <a:prstGeom prst="blockArc">
            <a:avLst>
              <a:gd name="adj1" fmla="val 5400000"/>
              <a:gd name="adj2" fmla="val 10800000"/>
              <a:gd name="adj3" fmla="val 3000"/>
            </a:avLst>
          </a:prstGeom>
          <a:solidFill>
            <a:srgbClr val="7FB8B3"/>
          </a:solidFill>
          <a:ln/>
        </p:spPr>
      </p:sp>
      <p:sp>
        <p:nvSpPr>
          <p:cNvPr id="97" name="Shape 77"/>
          <p:cNvSpPr/>
          <p:nvPr/>
        </p:nvSpPr>
        <p:spPr>
          <a:xfrm>
            <a:off x="5052060" y="2575560"/>
            <a:ext cx="2042160" cy="2042160"/>
          </a:xfrm>
          <a:prstGeom prst="blockArc">
            <a:avLst>
              <a:gd name="adj1" fmla="val 10800000"/>
              <a:gd name="adj2" fmla="val 16200000"/>
              <a:gd name="adj3" fmla="val 3000"/>
            </a:avLst>
          </a:prstGeom>
          <a:solidFill>
            <a:srgbClr val="8FB4E3"/>
          </a:solidFill>
          <a:ln/>
        </p:spPr>
      </p:sp>
      <p:sp>
        <p:nvSpPr>
          <p:cNvPr id="98" name="Shape 78"/>
          <p:cNvSpPr/>
          <p:nvPr/>
        </p:nvSpPr>
        <p:spPr>
          <a:xfrm>
            <a:off x="5143500" y="2667000"/>
            <a:ext cx="1859280" cy="18592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99" name="Image 18" descr="/tmp/claude-1000/-home-lenovo-Desktop-HONEY-CHAIN/860fd3a9-ab1a-4242-a904-1949ce643db1/scratchpad/ppt/icons/s4_cent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36920" y="2804160"/>
            <a:ext cx="426720" cy="426720"/>
          </a:xfrm>
          <a:prstGeom prst="rect">
            <a:avLst/>
          </a:prstGeom>
        </p:spPr>
      </p:pic>
      <p:sp>
        <p:nvSpPr>
          <p:cNvPr id="100" name="Text 79"/>
          <p:cNvSpPr txBox="1"/>
          <p:nvPr/>
        </p:nvSpPr>
        <p:spPr>
          <a:xfrm>
            <a:off x="5257800" y="3261360"/>
            <a:ext cx="1630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</a:t>
            </a:r>
            <a:endParaRPr lang="en-US" sz="1900" dirty="0"/>
          </a:p>
        </p:txBody>
      </p:sp>
      <p:sp>
        <p:nvSpPr>
          <p:cNvPr id="101" name="Text 80"/>
          <p:cNvSpPr txBox="1"/>
          <p:nvPr/>
        </p:nvSpPr>
        <p:spPr>
          <a:xfrm>
            <a:off x="5257800" y="4076700"/>
            <a:ext cx="1630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Real-World Impact</a:t>
            </a:r>
            <a:endParaRPr lang="en-US" sz="850" dirty="0"/>
          </a:p>
        </p:txBody>
      </p:sp>
      <p:sp>
        <p:nvSpPr>
          <p:cNvPr id="102" name="Shape 81"/>
          <p:cNvSpPr/>
          <p:nvPr/>
        </p:nvSpPr>
        <p:spPr>
          <a:xfrm>
            <a:off x="0" y="6347460"/>
            <a:ext cx="12192000" cy="5105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3" name="Text 82"/>
          <p:cNvSpPr txBox="1"/>
          <p:nvPr/>
        </p:nvSpPr>
        <p:spPr>
          <a:xfrm>
            <a:off x="3810000" y="6385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300" dirty="0"/>
          </a:p>
        </p:txBody>
      </p:sp>
      <p:sp>
        <p:nvSpPr>
          <p:cNvPr id="104" name="Text 83"/>
          <p:cNvSpPr txBox="1"/>
          <p:nvPr/>
        </p:nvSpPr>
        <p:spPr>
          <a:xfrm>
            <a:off x="11277600" y="638556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novo-Desktop-HONEY-CHAIN/860fd3a9-ab1a-4242-a904-1949ce643db1/scratchpad/ppt/te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15240"/>
            <a:ext cx="952500" cy="952500"/>
          </a:xfrm>
          <a:prstGeom prst="rect">
            <a:avLst/>
          </a:prstGeom>
        </p:spPr>
      </p:pic>
      <p:pic>
        <p:nvPicPr>
          <p:cNvPr id="3" name="Image 1" descr="/tmp/claude-1000/-home-lenovo-Desktop-HONEY-CHAIN/860fd3a9-ab1a-4242-a904-1949ce643db1/scratchpad/ppt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20" y="30480"/>
            <a:ext cx="2247900" cy="10591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95400" y="106680"/>
            <a:ext cx="83820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1295400" y="670560"/>
            <a:ext cx="838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Empowering Rural Beekeepers with Trusted, Traceable Honey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0" y="1112520"/>
            <a:ext cx="4061460" cy="381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7" name="Shape 3"/>
          <p:cNvSpPr/>
          <p:nvPr/>
        </p:nvSpPr>
        <p:spPr>
          <a:xfrm>
            <a:off x="4061460" y="1112520"/>
            <a:ext cx="4069080" cy="38100"/>
          </a:xfrm>
          <a:prstGeom prst="rect">
            <a:avLst/>
          </a:prstGeom>
          <a:solidFill>
            <a:srgbClr val="16A6A6"/>
          </a:solidFill>
          <a:ln/>
        </p:spPr>
      </p:sp>
      <p:sp>
        <p:nvSpPr>
          <p:cNvPr id="8" name="Shape 4"/>
          <p:cNvSpPr/>
          <p:nvPr/>
        </p:nvSpPr>
        <p:spPr>
          <a:xfrm>
            <a:off x="8130540" y="1112520"/>
            <a:ext cx="4061460" cy="381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150620"/>
            <a:ext cx="12192000" cy="51968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6"/>
          <p:cNvSpPr/>
          <p:nvPr/>
        </p:nvSpPr>
        <p:spPr>
          <a:xfrm>
            <a:off x="3467100" y="3642360"/>
            <a:ext cx="4991100" cy="4991100"/>
          </a:xfrm>
          <a:prstGeom prst="blockArc">
            <a:avLst>
              <a:gd name="adj1" fmla="val 10800000"/>
              <a:gd name="adj2" fmla="val 0"/>
              <a:gd name="adj3" fmla="val 3500"/>
            </a:avLst>
          </a:prstGeom>
          <a:solidFill>
            <a:srgbClr val="D9D9D9"/>
          </a:solidFill>
          <a:ln/>
        </p:spPr>
      </p:sp>
      <p:sp>
        <p:nvSpPr>
          <p:cNvPr id="11" name="Shape 7"/>
          <p:cNvSpPr/>
          <p:nvPr/>
        </p:nvSpPr>
        <p:spPr>
          <a:xfrm>
            <a:off x="3642360" y="3810000"/>
            <a:ext cx="4640580" cy="464058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00000"/>
          </a:solidFill>
          <a:ln/>
        </p:spPr>
      </p:sp>
      <p:sp>
        <p:nvSpPr>
          <p:cNvPr id="12" name="Shape 8"/>
          <p:cNvSpPr/>
          <p:nvPr/>
        </p:nvSpPr>
        <p:spPr>
          <a:xfrm>
            <a:off x="3467100" y="6134100"/>
            <a:ext cx="4991100" cy="213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5920740" y="3947160"/>
            <a:ext cx="0" cy="214884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pic>
        <p:nvPicPr>
          <p:cNvPr id="14" name="Image 2" descr="/tmp/claude-1000/-home-lenovo-Desktop-HONEY-CHAIN/860fd3a9-ab1a-4242-a904-1949ce643db1/scratchpad/ppt/icons/s5_imp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7576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67200" y="5029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4114800" y="5334000"/>
            <a:ext cx="167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Difference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Make?</a:t>
            </a:r>
            <a:endParaRPr lang="en-US" sz="1600" dirty="0"/>
          </a:p>
        </p:txBody>
      </p:sp>
      <p:pic>
        <p:nvPicPr>
          <p:cNvPr id="17" name="Image 3" descr="/tmp/claude-1000/-home-lenovo-Desktop-HONEY-CHAIN/860fd3a9-ab1a-4242-a904-1949ce643db1/scratchpad/ppt/icons/s5_benef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426720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509016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6080760" y="5425440"/>
            <a:ext cx="1828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gain?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876800" y="2194560"/>
            <a:ext cx="160020" cy="11658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36820" y="3360420"/>
            <a:ext cx="480060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48300" y="352044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17"/>
          <p:cNvSpPr/>
          <p:nvPr/>
        </p:nvSpPr>
        <p:spPr>
          <a:xfrm>
            <a:off x="4648200" y="173736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24" name="Image 4" descr="/tmp/claude-1000/-home-lenovo-Desktop-HONEY-CHAIN/860fd3a9-ab1a-4242-a904-1949ce643db1/scratchpad/ppt/icons/i_counterfe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185166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170688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Counterfeit Honey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1280160" y="1935480"/>
            <a:ext cx="327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provenance exposes fake or adulterated batches.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20540" y="3002280"/>
            <a:ext cx="80010" cy="655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400550" y="3657600"/>
            <a:ext cx="240030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72000" y="381762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3"/>
          <p:cNvSpPr/>
          <p:nvPr/>
        </p:nvSpPr>
        <p:spPr>
          <a:xfrm>
            <a:off x="4091940" y="254508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31" name="Image 5" descr="/tmp/claude-1000/-home-lenovo-Desktop-HONEY-CHAIN/860fd3a9-ab1a-4242-a904-1949ce643db1/scratchpad/ppt/icons/i_inc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65938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3900" y="25146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Beekeeper Income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23900" y="2743200"/>
            <a:ext cx="327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origin earns premium prices and direct market access.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3741420" y="3794760"/>
            <a:ext cx="104775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846195" y="4069080"/>
            <a:ext cx="31432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091940" y="422910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29"/>
          <p:cNvSpPr/>
          <p:nvPr/>
        </p:nvSpPr>
        <p:spPr>
          <a:xfrm>
            <a:off x="3512820" y="333756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38" name="Image 6" descr="/tmp/claude-1000/-home-lenovo-Desktop-HONEY-CHAIN/860fd3a9-ab1a-4242-a904-1949ce643db1/scratchpad/ppt/icons/i_colon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7120" y="3451860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82880" y="330708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Colony Losses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82880" y="3535680"/>
            <a:ext cx="3238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heat, moisture, swarm &amp; Varroa alerts protect hives.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3101340" y="4617720"/>
            <a:ext cx="139065" cy="914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3240405" y="4709160"/>
            <a:ext cx="41719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3589020" y="486918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35"/>
          <p:cNvSpPr/>
          <p:nvPr/>
        </p:nvSpPr>
        <p:spPr>
          <a:xfrm>
            <a:off x="2872740" y="416052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45" name="Image 7" descr="/tmp/claude-1000/-home-lenovo-Desktop-HONEY-CHAIN/860fd3a9-ab1a-4242-a904-1949ce643db1/scratchpad/ppt/icons/i_consum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7040" y="4274820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82880" y="4130040"/>
            <a:ext cx="2598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Confidence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182880" y="4358640"/>
            <a:ext cx="2598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QR scan proves origin &amp; authenticity.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2743200" y="5471160"/>
            <a:ext cx="160020" cy="1219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2903220" y="5593080"/>
            <a:ext cx="480060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3314700" y="575310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1"/>
          <p:cNvSpPr/>
          <p:nvPr/>
        </p:nvSpPr>
        <p:spPr>
          <a:xfrm>
            <a:off x="2514600" y="501396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52" name="Image 8" descr="/tmp/claude-1000/-home-lenovo-Desktop-HONEY-CHAIN/860fd3a9-ab1a-4242-a904-1949ce643db1/scratchpad/ppt/icons/i_polic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900" y="5128260"/>
            <a:ext cx="228600" cy="22860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82880" y="49834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Policy</a:t>
            </a:r>
            <a:endParaRPr lang="en-US" sz="1600" dirty="0"/>
          </a:p>
        </p:txBody>
      </p:sp>
      <p:sp>
        <p:nvSpPr>
          <p:cNvPr id="54" name="Text 43"/>
          <p:cNvSpPr txBox="1"/>
          <p:nvPr/>
        </p:nvSpPr>
        <p:spPr>
          <a:xfrm>
            <a:off x="18288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KVIC tracks production &amp; disease spread live.</a:t>
            </a:r>
            <a:endParaRPr lang="en-US" sz="1100" dirty="0"/>
          </a:p>
        </p:txBody>
      </p:sp>
      <p:sp>
        <p:nvSpPr>
          <p:cNvPr id="55" name="Shape 44"/>
          <p:cNvSpPr/>
          <p:nvPr/>
        </p:nvSpPr>
        <p:spPr>
          <a:xfrm flipH="1">
            <a:off x="7118985" y="2194560"/>
            <a:ext cx="196215" cy="11811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 flipH="1">
            <a:off x="6530340" y="3375660"/>
            <a:ext cx="58864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6461760" y="353568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47"/>
          <p:cNvSpPr/>
          <p:nvPr/>
        </p:nvSpPr>
        <p:spPr>
          <a:xfrm>
            <a:off x="7086600" y="173736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59" name="Image 9" descr="/tmp/claude-1000/-home-lenovo-Desktop-HONEY-CHAIN/860fd3a9-ab1a-4242-a904-1949ce643db1/scratchpad/ppt/icons/b_reca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0900" y="1851660"/>
            <a:ext cx="228600" cy="22860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7635240" y="170688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Safety Recalls</a:t>
            </a:r>
            <a:endParaRPr lang="en-US" sz="1600" dirty="0"/>
          </a:p>
        </p:txBody>
      </p:sp>
      <p:sp>
        <p:nvSpPr>
          <p:cNvPr id="61" name="Text 49"/>
          <p:cNvSpPr txBox="1"/>
          <p:nvPr/>
        </p:nvSpPr>
        <p:spPr>
          <a:xfrm>
            <a:off x="7635240" y="19354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KVIC revokes a batch; every consumer scan shows the recall.</a:t>
            </a:r>
            <a:endParaRPr lang="en-US" sz="1100" dirty="0"/>
          </a:p>
        </p:txBody>
      </p:sp>
      <p:sp>
        <p:nvSpPr>
          <p:cNvPr id="62" name="Shape 50"/>
          <p:cNvSpPr/>
          <p:nvPr/>
        </p:nvSpPr>
        <p:spPr>
          <a:xfrm flipH="1">
            <a:off x="7705725" y="3002280"/>
            <a:ext cx="165735" cy="6324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 flipH="1">
            <a:off x="7208520" y="3634740"/>
            <a:ext cx="49720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7139940" y="379476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53"/>
          <p:cNvSpPr/>
          <p:nvPr/>
        </p:nvSpPr>
        <p:spPr>
          <a:xfrm>
            <a:off x="7642860" y="254508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66" name="Image 10" descr="/tmp/claude-1000/-home-lenovo-Desktop-HONEY-CHAIN/860fd3a9-ab1a-4242-a904-1949ce643db1/scratchpad/ppt/icons/b_yie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7160" y="2659380"/>
            <a:ext cx="228600" cy="22860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191500" y="25146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Harvest Timing</a:t>
            </a:r>
            <a:endParaRPr lang="en-US" sz="1600" dirty="0"/>
          </a:p>
        </p:txBody>
      </p:sp>
      <p:sp>
        <p:nvSpPr>
          <p:cNvPr id="68" name="Text 55"/>
          <p:cNvSpPr txBox="1"/>
          <p:nvPr/>
        </p:nvSpPr>
        <p:spPr>
          <a:xfrm>
            <a:off x="8191500" y="27432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forecasts tell beekeepers when to extract honey.</a:t>
            </a:r>
            <a:endParaRPr lang="en-US" sz="1100" dirty="0"/>
          </a:p>
        </p:txBody>
      </p:sp>
      <p:sp>
        <p:nvSpPr>
          <p:cNvPr id="69" name="Shape 56"/>
          <p:cNvSpPr/>
          <p:nvPr/>
        </p:nvSpPr>
        <p:spPr>
          <a:xfrm flipH="1">
            <a:off x="8471535" y="3749040"/>
            <a:ext cx="23812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 flipH="1">
            <a:off x="7757160" y="3977640"/>
            <a:ext cx="71437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7688580" y="413766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Shape 59"/>
          <p:cNvSpPr/>
          <p:nvPr/>
        </p:nvSpPr>
        <p:spPr>
          <a:xfrm>
            <a:off x="8481060" y="329184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73" name="Image 11" descr="/tmp/claude-1000/-home-lenovo-Desktop-HONEY-CHAIN/860fd3a9-ab1a-4242-a904-1949ce643db1/scratchpad/ppt/icons/b_expor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5360" y="3406140"/>
            <a:ext cx="228600" cy="22860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9029700" y="326136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Export-Ready Traceability</a:t>
            </a:r>
            <a:endParaRPr lang="en-US" sz="1600" dirty="0"/>
          </a:p>
        </p:txBody>
      </p:sp>
      <p:sp>
        <p:nvSpPr>
          <p:cNvPr id="75" name="Text 61"/>
          <p:cNvSpPr txBox="1"/>
          <p:nvPr/>
        </p:nvSpPr>
        <p:spPr>
          <a:xfrm>
            <a:off x="9029700" y="34899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Hive-to-jar records support quality audits &amp; bulk buyers.</a:t>
            </a:r>
            <a:endParaRPr lang="en-US" sz="1100" dirty="0"/>
          </a:p>
        </p:txBody>
      </p:sp>
      <p:sp>
        <p:nvSpPr>
          <p:cNvPr id="76" name="Shape 62"/>
          <p:cNvSpPr/>
          <p:nvPr/>
        </p:nvSpPr>
        <p:spPr>
          <a:xfrm flipH="1">
            <a:off x="8730615" y="4632960"/>
            <a:ext cx="154305" cy="533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 flipH="1">
            <a:off x="8267700" y="4686300"/>
            <a:ext cx="462915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8" name="Shape 64"/>
          <p:cNvSpPr/>
          <p:nvPr/>
        </p:nvSpPr>
        <p:spPr>
          <a:xfrm>
            <a:off x="8199120" y="484632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9" name="Shape 65"/>
          <p:cNvSpPr/>
          <p:nvPr/>
        </p:nvSpPr>
        <p:spPr>
          <a:xfrm>
            <a:off x="8656320" y="417576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80" name="Image 12" descr="/tmp/claude-1000/-home-lenovo-Desktop-HONEY-CHAIN/860fd3a9-ab1a-4242-a904-1949ce643db1/scratchpad/ppt/icons/b_subsid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620" y="4290060"/>
            <a:ext cx="228600" cy="228600"/>
          </a:xfrm>
          <a:prstGeom prst="rect">
            <a:avLst/>
          </a:prstGeom>
        </p:spPr>
      </p:pic>
      <p:sp>
        <p:nvSpPr>
          <p:cNvPr id="81" name="Text 66"/>
          <p:cNvSpPr txBox="1"/>
          <p:nvPr/>
        </p:nvSpPr>
        <p:spPr>
          <a:xfrm>
            <a:off x="9204960" y="4145280"/>
            <a:ext cx="280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Subsidies</a:t>
            </a:r>
            <a:endParaRPr lang="en-US" sz="1600" dirty="0"/>
          </a:p>
        </p:txBody>
      </p:sp>
      <p:sp>
        <p:nvSpPr>
          <p:cNvPr id="82" name="Text 67"/>
          <p:cNvSpPr txBox="1"/>
          <p:nvPr/>
        </p:nvSpPr>
        <p:spPr>
          <a:xfrm>
            <a:off x="9204960" y="437388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2.46 lakh Honey Mission bee boxes linked to real output.</a:t>
            </a:r>
            <a:endParaRPr lang="en-US" sz="1100" dirty="0"/>
          </a:p>
        </p:txBody>
      </p:sp>
      <p:sp>
        <p:nvSpPr>
          <p:cNvPr id="83" name="Shape 68"/>
          <p:cNvSpPr/>
          <p:nvPr/>
        </p:nvSpPr>
        <p:spPr>
          <a:xfrm flipH="1">
            <a:off x="9010650" y="5486400"/>
            <a:ext cx="140970" cy="1143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 flipH="1">
            <a:off x="8587740" y="5600700"/>
            <a:ext cx="422910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8519160" y="5760720"/>
            <a:ext cx="137160" cy="1371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6" name="Shape 71"/>
          <p:cNvSpPr/>
          <p:nvPr/>
        </p:nvSpPr>
        <p:spPr>
          <a:xfrm>
            <a:off x="8923020" y="5029200"/>
            <a:ext cx="457200" cy="457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87" name="Image 13" descr="/tmp/claude-1000/-home-lenovo-Desktop-HONEY-CHAIN/860fd3a9-ab1a-4242-a904-1949ce643db1/scratchpad/ppt/icons/b_scal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7320" y="5143500"/>
            <a:ext cx="228600" cy="228600"/>
          </a:xfrm>
          <a:prstGeom prst="rect">
            <a:avLst/>
          </a:prstGeom>
        </p:spPr>
      </p:pic>
      <p:sp>
        <p:nvSpPr>
          <p:cNvPr id="88" name="Text 72"/>
          <p:cNvSpPr txBox="1"/>
          <p:nvPr/>
        </p:nvSpPr>
        <p:spPr>
          <a:xfrm>
            <a:off x="9471660" y="4998720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Rural Model</a:t>
            </a:r>
            <a:endParaRPr lang="en-US" sz="1600" dirty="0"/>
          </a:p>
        </p:txBody>
      </p:sp>
      <p:sp>
        <p:nvSpPr>
          <p:cNvPr id="89" name="Text 73"/>
          <p:cNvSpPr txBox="1"/>
          <p:nvPr/>
        </p:nvSpPr>
        <p:spPr>
          <a:xfrm>
            <a:off x="9471660" y="5227320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from a single cluster to every state.</a:t>
            </a:r>
            <a:endParaRPr lang="en-US" sz="1100" dirty="0"/>
          </a:p>
        </p:txBody>
      </p:sp>
      <p:sp>
        <p:nvSpPr>
          <p:cNvPr id="90" name="Shape 74"/>
          <p:cNvSpPr/>
          <p:nvPr/>
        </p:nvSpPr>
        <p:spPr>
          <a:xfrm>
            <a:off x="0" y="6347460"/>
            <a:ext cx="12192000" cy="5105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1" name="Shape 75"/>
          <p:cNvSpPr/>
          <p:nvPr/>
        </p:nvSpPr>
        <p:spPr>
          <a:xfrm>
            <a:off x="4648200" y="6347460"/>
            <a:ext cx="3200400" cy="381000"/>
          </a:xfrm>
          <a:prstGeom prst="rect">
            <a:avLst/>
          </a:prstGeom>
          <a:solidFill>
            <a:srgbClr val="146C94"/>
          </a:solidFill>
          <a:ln/>
        </p:spPr>
      </p:sp>
      <p:sp>
        <p:nvSpPr>
          <p:cNvPr id="92" name="Text 76"/>
          <p:cNvSpPr txBox="1"/>
          <p:nvPr/>
        </p:nvSpPr>
        <p:spPr>
          <a:xfrm>
            <a:off x="3810000" y="6385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300" dirty="0"/>
          </a:p>
        </p:txBody>
      </p:sp>
      <p:sp>
        <p:nvSpPr>
          <p:cNvPr id="93" name="Text 77"/>
          <p:cNvSpPr txBox="1"/>
          <p:nvPr/>
        </p:nvSpPr>
        <p:spPr>
          <a:xfrm>
            <a:off x="11277600" y="638556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novo-Desktop-HONEY-CHAIN/860fd3a9-ab1a-4242-a904-1949ce643db1/scratchpad/ppt/te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15240"/>
            <a:ext cx="952500" cy="952500"/>
          </a:xfrm>
          <a:prstGeom prst="rect">
            <a:avLst/>
          </a:prstGeom>
        </p:spPr>
      </p:pic>
      <p:pic>
        <p:nvPicPr>
          <p:cNvPr id="3" name="Image 1" descr="/tmp/claude-1000/-home-lenovo-Desktop-HONEY-CHAIN/860fd3a9-ab1a-4242-a904-1949ce643db1/scratchpad/ppt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20" y="30480"/>
            <a:ext cx="2247900" cy="10591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95400" y="167640"/>
            <a:ext cx="838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 AND REFERENCES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289560" y="1127760"/>
            <a:ext cx="5638800" cy="335280"/>
          </a:xfrm>
          <a:prstGeom prst="roundRect">
            <a:avLst>
              <a:gd name="adj" fmla="val 54545"/>
            </a:avLst>
          </a:prstGeom>
          <a:solidFill>
            <a:srgbClr val="FFCAE8"/>
          </a:solidFill>
          <a:ln w="254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365760" y="1127760"/>
            <a:ext cx="5486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SYSTEMS / PRIOR ART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289560" y="1546860"/>
            <a:ext cx="5638800" cy="9753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0520" y="1584960"/>
            <a:ext cx="5524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Food Trust (Hyperledger Fabric)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350520" y="1775460"/>
            <a:ext cx="552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blockchain for farm-to-shelf food traceability (e.g. Walmart mango trace in 2.2 s). Permissioned and costly for smallholders; no hive-level IoT monitoring or disease intelligence.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396240" y="2339340"/>
            <a:ext cx="541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ibm.com/blockchain/solutions/food-trust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89560" y="2590800"/>
            <a:ext cx="5638800" cy="9753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0520" y="2628900"/>
            <a:ext cx="5524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Arnia / BroodMinder Hive Monitoring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0520" y="2819400"/>
            <a:ext cx="552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hive scales and sensors with beekeeper apps. Strong colony monitoring, but data stops at the farm gate — no batch provenance or consumer verification.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96240" y="3383280"/>
            <a:ext cx="541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arnia.co.uk</a:t>
            </a: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8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broodminder.com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89560" y="3634740"/>
            <a:ext cx="5638800" cy="9753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0520" y="3672840"/>
            <a:ext cx="5524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Beewise BeeHome (AI-Robotic Hive)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350520" y="3863340"/>
            <a:ext cx="552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robotic hive with computer vision and automated pest treatment. Very high capital cost, unsuited to rural Indian smallholders, and offers no consumer-facing provenance.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96240" y="4427220"/>
            <a:ext cx="541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beewise.ag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73140" y="1127760"/>
            <a:ext cx="5806440" cy="335280"/>
          </a:xfrm>
          <a:prstGeom prst="roundRect">
            <a:avLst>
              <a:gd name="adj" fmla="val 54545"/>
            </a:avLst>
          </a:prstGeom>
          <a:solidFill>
            <a:srgbClr val="B6C0FF"/>
          </a:solidFill>
          <a:ln w="254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149340" y="1127760"/>
            <a:ext cx="56540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TECHNICAL REFERENCES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73140" y="1546860"/>
            <a:ext cx="5806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141720" y="1607820"/>
            <a:ext cx="5676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Isolation Forest — Unsupervised Anomaly Isolation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294120" y="1805940"/>
            <a:ext cx="5486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Liu, Ting &amp; Zhou, ICDM 2008  ·  </a:t>
            </a:r>
            <a:r>
              <a:rPr lang="en-US" sz="9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ieeexplore.ieee.org/document/4781136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141720" y="2103120"/>
            <a:ext cx="5676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Varroa Mite Detection with YOLO &amp; SSD Detectors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294120" y="2301240"/>
            <a:ext cx="5486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Bilik et al., Sensors 21(8):2764, 2021  ·  </a:t>
            </a:r>
            <a:r>
              <a:rPr lang="en-US" sz="9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doi.org/10.3390/s21082764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141720" y="2598420"/>
            <a:ext cx="5676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YOLO — Unified, Real-Time Object Detection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294120" y="2796540"/>
            <a:ext cx="5486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Redmon et al., CVPR 2016  ·  </a:t>
            </a:r>
            <a:r>
              <a:rPr lang="en-US" sz="9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arxiv.org/abs/1506.02640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141720" y="3093720"/>
            <a:ext cx="5676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RFID &amp; Blockchain Agri-Food Traceability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6294120" y="3291840"/>
            <a:ext cx="5486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Tian, ICSSSM 2016  ·  </a:t>
            </a:r>
            <a:r>
              <a:rPr lang="en-US" sz="9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doi.org/10.1109/ICSSSM.2016.7538424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6141720" y="3589020"/>
            <a:ext cx="5676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Precision Beekeeping — IoT Colony Monitoring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294120" y="3787140"/>
            <a:ext cx="5486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Zacepins et al., Biosystems Engineering 130, 2015  ·  </a:t>
            </a:r>
            <a:r>
              <a:rPr lang="en-US" sz="9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doi.org/10.1016/j.biosystemseng.2014.12.001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6141720" y="4084320"/>
            <a:ext cx="5676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ERC-721 Non-Fungible Token Standard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294120" y="4282440"/>
            <a:ext cx="5486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Improvement Proposal 721  ·  </a:t>
            </a:r>
            <a:r>
              <a:rPr lang="en-US" sz="950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eips.ethereum.org/EIPS/eip-721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66700" y="4686300"/>
            <a:ext cx="11605260" cy="335280"/>
          </a:xfrm>
          <a:prstGeom prst="roundRect">
            <a:avLst>
              <a:gd name="adj" fmla="val 54545"/>
            </a:avLst>
          </a:prstGeom>
          <a:solidFill>
            <a:srgbClr val="E2A9F1"/>
          </a:solidFill>
          <a:ln w="254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55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342900" y="4686300"/>
            <a:ext cx="114528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— COMPLEMENTARY TO KVIC HONEY MISSION, NOT A REPLACEMENT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289560" y="5105400"/>
            <a:ext cx="468630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50520" y="51435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Practice (Paper Registers / Labels / Hive Apps)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350520" y="5341620"/>
            <a:ext cx="45720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Self-declared labels and manual registers are easy to forge; hive-monitoring apps stop at the farm gate; enterprise ledgers are too costly for rural beekeepers and give consumers no instant proof of origin.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052060" y="5105400"/>
            <a:ext cx="681990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120640" y="5143500"/>
            <a:ext cx="670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CHAIN — Our Technical Contribution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5120640" y="5341620"/>
            <a:ext cx="669036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low-cost, end-to-end hive-to-jar platform combining </a:t>
            </a: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IoT hive telemetry + explainable AI health scoring + YOLO Varroa detection + ERC-721 batch provenance with SHA-256 integrity + QR consumer verification + KVIC recall &amp; audit trail</a:t>
            </a: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built to plug directly into KVIC Honey Mission clusters.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0" y="6347460"/>
            <a:ext cx="12192000" cy="5105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3810000" y="6385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11277600" y="638556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Honey Chain — SIH 2026 (PS 26021)</dc:title>
  <dc:subject>PptxGenJS Presentation</dc:subject>
  <dc:creator>Team Brainy Brews</dc:creator>
  <cp:lastModifiedBy>Team Brainy Brews</cp:lastModifiedBy>
  <cp:revision>1</cp:revision>
  <dcterms:created xsi:type="dcterms:W3CDTF">2026-09-24T17:01:35Z</dcterms:created>
  <dcterms:modified xsi:type="dcterms:W3CDTF">2026-09-24T17:01:35Z</dcterms:modified>
</cp:coreProperties>
</file>